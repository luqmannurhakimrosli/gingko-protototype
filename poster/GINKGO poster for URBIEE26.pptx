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10.svg" ContentType="image/svg+xml"/>
  <Override PartName="/ppt/media/image14.svg" ContentType="image/svg+xml"/>
  <Override PartName="/ppt/media/image2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21374100" cy="30276800"/>
  <p:notesSz cx="6858000" cy="9144000"/>
  <p:embeddedFontLst>
    <p:embeddedFont>
      <p:font typeface="Anton" charset="1" panose="00000500000000000000"/>
      <p:regular r:id="rId10"/>
    </p:embeddedFont>
    <p:embeddedFont>
      <p:font typeface="Montserrat" charset="1" panose="00000500000000000000"/>
      <p:regular r:id="rId11"/>
    </p:embeddedFont>
    <p:embeddedFont>
      <p:font typeface="Montserrat Bold" charset="1" panose="000008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2.xml"/><Relationship Id="rId9" Type="http://schemas.openxmlformats.org/officeDocument/2006/relationships/notesSlide" Target="notesSlides/notesSlide1.xml"/><Relationship Id="rId10" Type="http://schemas.openxmlformats.org/officeDocument/2006/relationships/font" Target="fonts/font10.fntdata"/><Relationship Id="rId11" Type="http://schemas.openxmlformats.org/officeDocument/2006/relationships/font" Target="fonts/font11.fntdata"/><Relationship Id="rId12" Type="http://schemas.openxmlformats.org/officeDocument/2006/relationships/font" Target="fonts/font12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D93025"/>
            </a:solidFill>
          </c:spPr>
          <c:dLbls>
            <c:numFmt formatCode="0&quot;%&quot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Hulu Langat</c:v>
                </c:pt>
                <c:pt idx="1">
                  <c:v>Hulu Selangor</c:v>
                </c:pt>
                <c:pt idx="2">
                  <c:v>Gombak</c:v>
                </c:pt>
                <c:pt idx="3">
                  <c:v>Petaling</c:v>
                </c:pt>
                <c:pt idx="4">
                  <c:v>Sepang</c:v>
                </c:pt>
                <c:pt idx="5">
                  <c:v>Kuala Selangor</c:v>
                </c:pt>
                <c:pt idx="6">
                  <c:v>Sabak Bernam</c:v>
                </c:pt>
                <c:pt idx="7">
                  <c:v>Kuala Langat</c:v>
                </c:pt>
                <c:pt idx="8">
                  <c:v>Klang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7.1</c:v>
                </c:pt>
                <c:pt idx="1">
                  <c:v>7.3</c:v>
                </c:pt>
                <c:pt idx="2">
                  <c:v>8.1</c:v>
                </c:pt>
                <c:pt idx="3">
                  <c:v>17.7</c:v>
                </c:pt>
                <c:pt idx="4">
                  <c:v>26.1</c:v>
                </c:pt>
                <c:pt idx="5">
                  <c:v>31.7</c:v>
                </c:pt>
                <c:pt idx="6">
                  <c:v>37.6</c:v>
                </c:pt>
                <c:pt idx="7">
                  <c:v>38.5</c:v>
                </c:pt>
                <c:pt idx="8">
                  <c:v>59.8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Moderate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Sheet1!$A$2:$A$10</c:f>
              <c:strCache>
                <c:ptCount val="9"/>
                <c:pt idx="0">
                  <c:v>Hulu Langat</c:v>
                </c:pt>
                <c:pt idx="1">
                  <c:v>Hulu Selangor</c:v>
                </c:pt>
                <c:pt idx="2">
                  <c:v>Gombak</c:v>
                </c:pt>
                <c:pt idx="3">
                  <c:v>Petaling</c:v>
                </c:pt>
                <c:pt idx="4">
                  <c:v>Sepang</c:v>
                </c:pt>
                <c:pt idx="5">
                  <c:v>Kuala Selangor</c:v>
                </c:pt>
                <c:pt idx="6">
                  <c:v>Sabak Bernam</c:v>
                </c:pt>
                <c:pt idx="7">
                  <c:v>Kuala Langat</c:v>
                </c:pt>
                <c:pt idx="8">
                  <c:v>Klang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8.5</c:v>
                </c:pt>
                <c:pt idx="1">
                  <c:v>7.9</c:v>
                </c:pt>
                <c:pt idx="2">
                  <c:v>9.2</c:v>
                </c:pt>
                <c:pt idx="3">
                  <c:v>20.7</c:v>
                </c:pt>
                <c:pt idx="4">
                  <c:v>29.1</c:v>
                </c:pt>
                <c:pt idx="5">
                  <c:v>36.5</c:v>
                </c:pt>
                <c:pt idx="6">
                  <c:v>39.1</c:v>
                </c:pt>
                <c:pt idx="7">
                  <c:v>45.6</c:v>
                </c:pt>
                <c:pt idx="8">
                  <c:v>32.1</c:v>
                </c:pt>
              </c:numCache>
            </c:numRef>
          </c:val>
        </c:ser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99999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D9D9D9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25.0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300">
          <a:solidFill>
            <a:srgbClr val="222222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Flooding within 1 h</c:v>
                </c:pt>
              </c:strCache>
            </c:strRef>
          </c:tx>
          <c:spPr>
            <a:ln w="44450">
              <a:solidFill>
                <a:srgbClr val="AA00AA"/>
              </a:solidFill>
            </a:ln>
          </c:spPr>
          <c:marker>
            <c:symbol val="circle"/>
            <c:size val="7"/>
            <c:spPr>
              <a:solidFill>
                <a:srgbClr val="AA00AA"/>
              </a:solidFill>
              <a:ln>
                <a:solidFill>
                  <a:srgbClr val="AA00AA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3</c:v>
                </c:pt>
                <c:pt idx="7">
                  <c:v>3.5</c:v>
                </c:pt>
                <c:pt idx="8">
                  <c:v>4</c:v>
                </c:pt>
                <c:pt idx="9">
                  <c:v>4.5</c:v>
                </c:pt>
                <c:pt idx="10">
                  <c:v>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136</c:v>
                </c:pt>
                <c:pt idx="1">
                  <c:v>307</c:v>
                </c:pt>
                <c:pt idx="2">
                  <c:v>377</c:v>
                </c:pt>
                <c:pt idx="3">
                  <c:v>497</c:v>
                </c:pt>
                <c:pt idx="4">
                  <c:v>585</c:v>
                </c:pt>
                <c:pt idx="5">
                  <c:v>587</c:v>
                </c:pt>
                <c:pt idx="6">
                  <c:v>633</c:v>
                </c:pt>
                <c:pt idx="7">
                  <c:v>623</c:v>
                </c:pt>
                <c:pt idx="8">
                  <c:v>583</c:v>
                </c:pt>
                <c:pt idx="9">
                  <c:v>301</c:v>
                </c:pt>
                <c:pt idx="10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centres</c:v>
                </c:pt>
              </c:strCache>
            </c:strRef>
          </c:tx>
          <c:spPr>
            <a:ln w="44450">
              <a:solidFill>
                <a:srgbClr val="08A045"/>
              </a:solidFill>
            </a:ln>
          </c:spPr>
          <c:marker>
            <c:symbol val="circle"/>
            <c:size val="7"/>
            <c:spPr>
              <a:solidFill>
                <a:srgbClr val="08A045"/>
              </a:solidFill>
              <a:ln>
                <a:solidFill>
                  <a:srgbClr val="08A045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3</c:v>
                </c:pt>
                <c:pt idx="7">
                  <c:v>3.5</c:v>
                </c:pt>
                <c:pt idx="8">
                  <c:v>4</c:v>
                </c:pt>
                <c:pt idx="9">
                  <c:v>4.5</c:v>
                </c:pt>
                <c:pt idx="10">
                  <c:v>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43</c:v>
                </c:pt>
                <c:pt idx="2">
                  <c:v>79</c:v>
                </c:pt>
                <c:pt idx="3">
                  <c:v>101</c:v>
                </c:pt>
                <c:pt idx="4">
                  <c:v>120</c:v>
                </c:pt>
                <c:pt idx="5">
                  <c:v>126</c:v>
                </c:pt>
                <c:pt idx="6">
                  <c:v>132</c:v>
                </c:pt>
                <c:pt idx="7">
                  <c:v>136</c:v>
                </c:pt>
                <c:pt idx="8">
                  <c:v>138</c:v>
                </c:pt>
                <c:pt idx="9">
                  <c:v>140</c:v>
                </c:pt>
                <c:pt idx="10">
                  <c:v>141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centre in reach</c:v>
                </c:pt>
              </c:strCache>
            </c:strRef>
          </c:tx>
          <c:spPr>
            <a:ln w="44450">
              <a:solidFill>
                <a:srgbClr val="D93025"/>
              </a:solidFill>
            </a:ln>
          </c:spPr>
          <c:marker>
            <c:symbol val="circle"/>
            <c:size val="7"/>
            <c:spPr>
              <a:solidFill>
                <a:srgbClr val="D93025"/>
              </a:solidFill>
              <a:ln>
                <a:solidFill>
                  <a:srgbClr val="D93025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1.5</c:v>
                </c:pt>
                <c:pt idx="4">
                  <c:v>2</c:v>
                </c:pt>
                <c:pt idx="5">
                  <c:v>2.5</c:v>
                </c:pt>
                <c:pt idx="6">
                  <c:v>3</c:v>
                </c:pt>
                <c:pt idx="7">
                  <c:v>3.5</c:v>
                </c:pt>
                <c:pt idx="8">
                  <c:v>4</c:v>
                </c:pt>
                <c:pt idx="9">
                  <c:v>4.5</c:v>
                </c:pt>
                <c:pt idx="10">
                  <c:v>5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106</c:v>
                </c:pt>
                <c:pt idx="1">
                  <c:v>128</c:v>
                </c:pt>
                <c:pt idx="2">
                  <c:v>165</c:v>
                </c:pt>
                <c:pt idx="3">
                  <c:v>180</c:v>
                </c:pt>
                <c:pt idx="4">
                  <c:v>201</c:v>
                </c:pt>
                <c:pt idx="5">
                  <c:v>203</c:v>
                </c:pt>
                <c:pt idx="6">
                  <c:v>206</c:v>
                </c:pt>
                <c:pt idx="7">
                  <c:v>206</c:v>
                </c:pt>
                <c:pt idx="8">
                  <c:v>206</c:v>
                </c:pt>
                <c:pt idx="9">
                  <c:v>206</c:v>
                </c:pt>
                <c:pt idx="10">
                  <c:v>206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/>
                  <a:t>hours since the rain started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999999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00.0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  <c:majorUnit val="100.0"/>
      </c:valAx>
    </c:plotArea>
    <c:legend>
      <c:legendPos val="b"/>
      <c:layout/>
      <c:overlay val="0"/>
      <c:txPr>
        <a:bodyPr/>
        <a:lstStyle/>
        <a:p>
          <a:pPr>
            <a:defRPr sz="1300"/>
          </a:pPr>
        </a:p>
      </c:txPr>
    </c:legend>
    <c:plotVisOnly val="1"/>
    <c:dispBlanksAs val="gap"/>
    <c:showDLblsOverMax val="0"/>
  </c:chart>
  <c:txPr>
    <a:bodyPr/>
    <a:lstStyle/>
    <a:p>
      <a:pPr>
        <a:defRPr sz="1300">
          <a:solidFill>
            <a:srgbClr val="222222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image" Target="../media/image9.png"/><Relationship Id="rId12" Type="http://schemas.openxmlformats.org/officeDocument/2006/relationships/image" Target="../media/image10.sv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svg"/><Relationship Id="rId17" Type="http://schemas.openxmlformats.org/officeDocument/2006/relationships/image" Target="../media/image15.png"/><Relationship Id="rId18" Type="http://schemas.openxmlformats.org/officeDocument/2006/relationships/chart" Target="../charts/chart1.xml"/><Relationship Id="rId19" Type="http://schemas.openxmlformats.org/officeDocument/2006/relationships/chart" Target="../charts/chart2.xml"/><Relationship Id="rId20" Type="http://schemas.openxmlformats.org/officeDocument/2006/relationships/image" Target="../media/image16.png"/><Relationship Id="rId21" Type="http://schemas.openxmlformats.org/officeDocument/2006/relationships/image" Target="../media/image17.jpg"/><Relationship Id="rId22" Type="http://schemas.openxmlformats.org/officeDocument/2006/relationships/image" Target="../media/image18.jpg"/><Relationship Id="rId23" Type="http://schemas.openxmlformats.org/officeDocument/2006/relationships/image" Target="../media/image19.jp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62160" y="-1777509"/>
            <a:ext cx="22958622" cy="2437583"/>
            <a:chOff x="0" y="0"/>
            <a:chExt cx="2944199" cy="3125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4199" cy="312594"/>
            </a:xfrm>
            <a:custGeom>
              <a:avLst/>
              <a:gdLst/>
              <a:ahLst/>
              <a:cxnLst/>
              <a:rect r="r" b="b" t="t" l="l"/>
              <a:pathLst>
                <a:path h="312594" w="2944199">
                  <a:moveTo>
                    <a:pt x="9105" y="0"/>
                  </a:moveTo>
                  <a:lnTo>
                    <a:pt x="2935094" y="0"/>
                  </a:lnTo>
                  <a:cubicBezTo>
                    <a:pt x="2940123" y="0"/>
                    <a:pt x="2944199" y="4076"/>
                    <a:pt x="2944199" y="9105"/>
                  </a:cubicBezTo>
                  <a:lnTo>
                    <a:pt x="2944199" y="303489"/>
                  </a:lnTo>
                  <a:cubicBezTo>
                    <a:pt x="2944199" y="305904"/>
                    <a:pt x="2943240" y="308220"/>
                    <a:pt x="2941532" y="309927"/>
                  </a:cubicBezTo>
                  <a:cubicBezTo>
                    <a:pt x="2939825" y="311635"/>
                    <a:pt x="2937509" y="312594"/>
                    <a:pt x="2935094" y="312594"/>
                  </a:cubicBezTo>
                  <a:lnTo>
                    <a:pt x="9105" y="312594"/>
                  </a:lnTo>
                  <a:cubicBezTo>
                    <a:pt x="6690" y="312594"/>
                    <a:pt x="4374" y="311635"/>
                    <a:pt x="2667" y="309927"/>
                  </a:cubicBezTo>
                  <a:cubicBezTo>
                    <a:pt x="959" y="308220"/>
                    <a:pt x="0" y="305904"/>
                    <a:pt x="0" y="303489"/>
                  </a:cubicBezTo>
                  <a:lnTo>
                    <a:pt x="0" y="9105"/>
                  </a:lnTo>
                  <a:cubicBezTo>
                    <a:pt x="0" y="6690"/>
                    <a:pt x="959" y="4374"/>
                    <a:pt x="2667" y="2667"/>
                  </a:cubicBezTo>
                  <a:cubicBezTo>
                    <a:pt x="4374" y="959"/>
                    <a:pt x="6690" y="0"/>
                    <a:pt x="9105" y="0"/>
                  </a:cubicBezTo>
                  <a:close/>
                </a:path>
              </a:pathLst>
            </a:custGeom>
            <a:solidFill>
              <a:srgbClr val="0B6F6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44199" cy="350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0858" y="7043849"/>
            <a:ext cx="9081249" cy="9188660"/>
            <a:chOff x="0" y="0"/>
            <a:chExt cx="1164574" cy="11783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64574" cy="1178348"/>
            </a:xfrm>
            <a:custGeom>
              <a:avLst/>
              <a:gdLst/>
              <a:ahLst/>
              <a:cxnLst/>
              <a:rect r="r" b="b" t="t" l="l"/>
              <a:pathLst>
                <a:path h="1178348" w="1164574">
                  <a:moveTo>
                    <a:pt x="13640" y="0"/>
                  </a:moveTo>
                  <a:lnTo>
                    <a:pt x="1150933" y="0"/>
                  </a:lnTo>
                  <a:cubicBezTo>
                    <a:pt x="1158467" y="0"/>
                    <a:pt x="1164574" y="6107"/>
                    <a:pt x="1164574" y="13640"/>
                  </a:cubicBezTo>
                  <a:lnTo>
                    <a:pt x="1164574" y="1164708"/>
                  </a:lnTo>
                  <a:cubicBezTo>
                    <a:pt x="1164574" y="1168325"/>
                    <a:pt x="1163137" y="1171795"/>
                    <a:pt x="1160579" y="1174353"/>
                  </a:cubicBezTo>
                  <a:cubicBezTo>
                    <a:pt x="1158020" y="1176911"/>
                    <a:pt x="1154551" y="1178348"/>
                    <a:pt x="1150933" y="1178348"/>
                  </a:cubicBezTo>
                  <a:lnTo>
                    <a:pt x="13640" y="1178348"/>
                  </a:lnTo>
                  <a:cubicBezTo>
                    <a:pt x="6107" y="1178348"/>
                    <a:pt x="0" y="1172241"/>
                    <a:pt x="0" y="1164708"/>
                  </a:cubicBezTo>
                  <a:lnTo>
                    <a:pt x="0" y="13640"/>
                  </a:lnTo>
                  <a:cubicBezTo>
                    <a:pt x="0" y="6107"/>
                    <a:pt x="6107" y="0"/>
                    <a:pt x="13640" y="0"/>
                  </a:cubicBezTo>
                  <a:close/>
                </a:path>
              </a:pathLst>
            </a:custGeom>
            <a:ln w="28575" cap="sq">
              <a:solidFill>
                <a:srgbClr val="075B5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64574" cy="1216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65668" y="7043849"/>
            <a:ext cx="9295257" cy="6407708"/>
            <a:chOff x="0" y="0"/>
            <a:chExt cx="1192018" cy="821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2018" cy="821720"/>
            </a:xfrm>
            <a:custGeom>
              <a:avLst/>
              <a:gdLst/>
              <a:ahLst/>
              <a:cxnLst/>
              <a:rect r="r" b="b" t="t" l="l"/>
              <a:pathLst>
                <a:path h="821720" w="1192018">
                  <a:moveTo>
                    <a:pt x="13326" y="0"/>
                  </a:moveTo>
                  <a:lnTo>
                    <a:pt x="1178692" y="0"/>
                  </a:lnTo>
                  <a:cubicBezTo>
                    <a:pt x="1182226" y="0"/>
                    <a:pt x="1185616" y="1404"/>
                    <a:pt x="1188115" y="3903"/>
                  </a:cubicBezTo>
                  <a:cubicBezTo>
                    <a:pt x="1190614" y="6402"/>
                    <a:pt x="1192018" y="9792"/>
                    <a:pt x="1192018" y="13326"/>
                  </a:cubicBezTo>
                  <a:lnTo>
                    <a:pt x="1192018" y="808394"/>
                  </a:lnTo>
                  <a:cubicBezTo>
                    <a:pt x="1192018" y="815754"/>
                    <a:pt x="1186051" y="821720"/>
                    <a:pt x="1178692" y="821720"/>
                  </a:cubicBezTo>
                  <a:lnTo>
                    <a:pt x="13326" y="821720"/>
                  </a:lnTo>
                  <a:cubicBezTo>
                    <a:pt x="5966" y="821720"/>
                    <a:pt x="0" y="815754"/>
                    <a:pt x="0" y="808394"/>
                  </a:cubicBezTo>
                  <a:lnTo>
                    <a:pt x="0" y="13326"/>
                  </a:lnTo>
                  <a:cubicBezTo>
                    <a:pt x="0" y="5966"/>
                    <a:pt x="5966" y="0"/>
                    <a:pt x="13326" y="0"/>
                  </a:cubicBezTo>
                  <a:close/>
                </a:path>
              </a:pathLst>
            </a:custGeom>
            <a:ln w="28575" cap="sq">
              <a:solidFill>
                <a:srgbClr val="075B5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92018" cy="859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5592" y="7066519"/>
            <a:ext cx="924109" cy="907136"/>
            <a:chOff x="0" y="0"/>
            <a:chExt cx="118507" cy="1163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507" cy="116331"/>
            </a:xfrm>
            <a:custGeom>
              <a:avLst/>
              <a:gdLst/>
              <a:ahLst/>
              <a:cxnLst/>
              <a:rect r="r" b="b" t="t" l="l"/>
              <a:pathLst>
                <a:path h="116331" w="118507">
                  <a:moveTo>
                    <a:pt x="58165" y="0"/>
                  </a:moveTo>
                  <a:lnTo>
                    <a:pt x="60342" y="0"/>
                  </a:lnTo>
                  <a:cubicBezTo>
                    <a:pt x="92466" y="0"/>
                    <a:pt x="118507" y="26041"/>
                    <a:pt x="118507" y="58165"/>
                  </a:cubicBezTo>
                  <a:lnTo>
                    <a:pt x="118507" y="58165"/>
                  </a:lnTo>
                  <a:cubicBezTo>
                    <a:pt x="118507" y="90289"/>
                    <a:pt x="92466" y="116331"/>
                    <a:pt x="60342" y="116331"/>
                  </a:cubicBezTo>
                  <a:lnTo>
                    <a:pt x="58165" y="116331"/>
                  </a:lnTo>
                  <a:cubicBezTo>
                    <a:pt x="26041" y="116331"/>
                    <a:pt x="0" y="90289"/>
                    <a:pt x="0" y="58165"/>
                  </a:cubicBezTo>
                  <a:lnTo>
                    <a:pt x="0" y="58165"/>
                  </a:lnTo>
                  <a:cubicBezTo>
                    <a:pt x="0" y="26041"/>
                    <a:pt x="26041" y="0"/>
                    <a:pt x="58165" y="0"/>
                  </a:cubicBezTo>
                  <a:close/>
                </a:path>
              </a:pathLst>
            </a:custGeom>
            <a:solidFill>
              <a:srgbClr val="075B5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8507" cy="15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61500" y="7222196"/>
            <a:ext cx="472293" cy="595782"/>
          </a:xfrm>
          <a:custGeom>
            <a:avLst/>
            <a:gdLst/>
            <a:ahLst/>
            <a:cxnLst/>
            <a:rect r="r" b="b" t="t" l="l"/>
            <a:pathLst>
              <a:path h="595782" w="472293">
                <a:moveTo>
                  <a:pt x="0" y="0"/>
                </a:moveTo>
                <a:lnTo>
                  <a:pt x="472293" y="0"/>
                </a:lnTo>
                <a:lnTo>
                  <a:pt x="472293" y="595782"/>
                </a:lnTo>
                <a:lnTo>
                  <a:pt x="0" y="5957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50326" y="16746858"/>
            <a:ext cx="18610598" cy="6299200"/>
            <a:chOff x="0" y="0"/>
            <a:chExt cx="2386611" cy="885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86611" cy="885670"/>
            </a:xfrm>
            <a:custGeom>
              <a:avLst/>
              <a:gdLst/>
              <a:ahLst/>
              <a:cxnLst/>
              <a:rect r="r" b="b" t="t" l="l"/>
              <a:pathLst>
                <a:path h="885670" w="2386611">
                  <a:moveTo>
                    <a:pt x="6656" y="0"/>
                  </a:moveTo>
                  <a:lnTo>
                    <a:pt x="2379955" y="0"/>
                  </a:lnTo>
                  <a:cubicBezTo>
                    <a:pt x="2383631" y="0"/>
                    <a:pt x="2386611" y="2980"/>
                    <a:pt x="2386611" y="6656"/>
                  </a:cubicBezTo>
                  <a:lnTo>
                    <a:pt x="2386611" y="879014"/>
                  </a:lnTo>
                  <a:cubicBezTo>
                    <a:pt x="2386611" y="882690"/>
                    <a:pt x="2383631" y="885670"/>
                    <a:pt x="2379955" y="885670"/>
                  </a:cubicBezTo>
                  <a:lnTo>
                    <a:pt x="6656" y="885670"/>
                  </a:lnTo>
                  <a:cubicBezTo>
                    <a:pt x="2980" y="885670"/>
                    <a:pt x="0" y="882690"/>
                    <a:pt x="0" y="879014"/>
                  </a:cubicBezTo>
                  <a:lnTo>
                    <a:pt x="0" y="6656"/>
                  </a:lnTo>
                  <a:cubicBezTo>
                    <a:pt x="0" y="2980"/>
                    <a:pt x="2980" y="0"/>
                    <a:pt x="6656" y="0"/>
                  </a:cubicBezTo>
                  <a:close/>
                </a:path>
              </a:pathLst>
            </a:custGeom>
            <a:ln w="28575" cap="sq">
              <a:solidFill>
                <a:srgbClr val="075B5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386611" cy="923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65060" y="16384908"/>
            <a:ext cx="18595864" cy="907136"/>
            <a:chOff x="0" y="0"/>
            <a:chExt cx="2384722" cy="1163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84722" cy="116331"/>
            </a:xfrm>
            <a:custGeom>
              <a:avLst/>
              <a:gdLst/>
              <a:ahLst/>
              <a:cxnLst/>
              <a:rect r="r" b="b" t="t" l="l"/>
              <a:pathLst>
                <a:path h="116331" w="2384722">
                  <a:moveTo>
                    <a:pt x="6661" y="0"/>
                  </a:moveTo>
                  <a:lnTo>
                    <a:pt x="2378061" y="0"/>
                  </a:lnTo>
                  <a:cubicBezTo>
                    <a:pt x="2381740" y="0"/>
                    <a:pt x="2384722" y="2982"/>
                    <a:pt x="2384722" y="6661"/>
                  </a:cubicBezTo>
                  <a:lnTo>
                    <a:pt x="2384722" y="109669"/>
                  </a:lnTo>
                  <a:cubicBezTo>
                    <a:pt x="2384722" y="111436"/>
                    <a:pt x="2384020" y="113130"/>
                    <a:pt x="2382771" y="114380"/>
                  </a:cubicBezTo>
                  <a:cubicBezTo>
                    <a:pt x="2381522" y="115629"/>
                    <a:pt x="2379827" y="116331"/>
                    <a:pt x="2378061" y="116331"/>
                  </a:cubicBezTo>
                  <a:lnTo>
                    <a:pt x="6661" y="116331"/>
                  </a:lnTo>
                  <a:cubicBezTo>
                    <a:pt x="4895" y="116331"/>
                    <a:pt x="3200" y="115629"/>
                    <a:pt x="1951" y="114380"/>
                  </a:cubicBezTo>
                  <a:cubicBezTo>
                    <a:pt x="702" y="113130"/>
                    <a:pt x="0" y="111436"/>
                    <a:pt x="0" y="109669"/>
                  </a:cubicBezTo>
                  <a:lnTo>
                    <a:pt x="0" y="6661"/>
                  </a:lnTo>
                  <a:cubicBezTo>
                    <a:pt x="0" y="4895"/>
                    <a:pt x="702" y="3200"/>
                    <a:pt x="1951" y="1951"/>
                  </a:cubicBezTo>
                  <a:cubicBezTo>
                    <a:pt x="3200" y="702"/>
                    <a:pt x="4895" y="0"/>
                    <a:pt x="6661" y="0"/>
                  </a:cubicBezTo>
                  <a:close/>
                </a:path>
              </a:pathLst>
            </a:custGeom>
            <a:solidFill>
              <a:srgbClr val="075B5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384722" cy="15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438069" y="17510659"/>
            <a:ext cx="11622855" cy="5537200"/>
            <a:chOff x="0" y="0"/>
            <a:chExt cx="1490508" cy="7869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90508" cy="786984"/>
            </a:xfrm>
            <a:custGeom>
              <a:avLst/>
              <a:gdLst/>
              <a:ahLst/>
              <a:cxnLst/>
              <a:rect r="r" b="b" t="t" l="l"/>
              <a:pathLst>
                <a:path h="786984" w="1490508">
                  <a:moveTo>
                    <a:pt x="10658" y="0"/>
                  </a:moveTo>
                  <a:lnTo>
                    <a:pt x="1479850" y="0"/>
                  </a:lnTo>
                  <a:cubicBezTo>
                    <a:pt x="1482677" y="0"/>
                    <a:pt x="1485387" y="1123"/>
                    <a:pt x="1487386" y="3122"/>
                  </a:cubicBezTo>
                  <a:cubicBezTo>
                    <a:pt x="1489385" y="5120"/>
                    <a:pt x="1490508" y="7831"/>
                    <a:pt x="1490508" y="10658"/>
                  </a:cubicBezTo>
                  <a:lnTo>
                    <a:pt x="1490508" y="776327"/>
                  </a:lnTo>
                  <a:cubicBezTo>
                    <a:pt x="1490508" y="779153"/>
                    <a:pt x="1489385" y="781864"/>
                    <a:pt x="1487386" y="783863"/>
                  </a:cubicBezTo>
                  <a:cubicBezTo>
                    <a:pt x="1485387" y="785861"/>
                    <a:pt x="1482677" y="786984"/>
                    <a:pt x="1479850" y="786984"/>
                  </a:cubicBezTo>
                  <a:lnTo>
                    <a:pt x="10658" y="786984"/>
                  </a:lnTo>
                  <a:cubicBezTo>
                    <a:pt x="4772" y="786984"/>
                    <a:pt x="0" y="782213"/>
                    <a:pt x="0" y="776327"/>
                  </a:cubicBezTo>
                  <a:lnTo>
                    <a:pt x="0" y="10658"/>
                  </a:lnTo>
                  <a:cubicBezTo>
                    <a:pt x="0" y="7831"/>
                    <a:pt x="1123" y="5120"/>
                    <a:pt x="3122" y="3122"/>
                  </a:cubicBezTo>
                  <a:cubicBezTo>
                    <a:pt x="5120" y="1123"/>
                    <a:pt x="7831" y="0"/>
                    <a:pt x="10658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5B5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90508" cy="8250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70411" y="26987500"/>
            <a:ext cx="18590513" cy="2870200"/>
            <a:chOff x="0" y="0"/>
            <a:chExt cx="2384036" cy="48688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84036" cy="486889"/>
            </a:xfrm>
            <a:custGeom>
              <a:avLst/>
              <a:gdLst/>
              <a:ahLst/>
              <a:cxnLst/>
              <a:rect r="r" b="b" t="t" l="l"/>
              <a:pathLst>
                <a:path h="486889" w="2384036">
                  <a:moveTo>
                    <a:pt x="6663" y="0"/>
                  </a:moveTo>
                  <a:lnTo>
                    <a:pt x="2377373" y="0"/>
                  </a:lnTo>
                  <a:cubicBezTo>
                    <a:pt x="2381053" y="0"/>
                    <a:pt x="2384036" y="2983"/>
                    <a:pt x="2384036" y="6663"/>
                  </a:cubicBezTo>
                  <a:lnTo>
                    <a:pt x="2384036" y="480226"/>
                  </a:lnTo>
                  <a:cubicBezTo>
                    <a:pt x="2384036" y="481993"/>
                    <a:pt x="2383334" y="483688"/>
                    <a:pt x="2382084" y="484937"/>
                  </a:cubicBezTo>
                  <a:cubicBezTo>
                    <a:pt x="2380835" y="486187"/>
                    <a:pt x="2379140" y="486889"/>
                    <a:pt x="2377373" y="486889"/>
                  </a:cubicBezTo>
                  <a:lnTo>
                    <a:pt x="6663" y="486889"/>
                  </a:lnTo>
                  <a:cubicBezTo>
                    <a:pt x="2983" y="486889"/>
                    <a:pt x="0" y="483906"/>
                    <a:pt x="0" y="480226"/>
                  </a:cubicBezTo>
                  <a:lnTo>
                    <a:pt x="0" y="6663"/>
                  </a:lnTo>
                  <a:cubicBezTo>
                    <a:pt x="0" y="2983"/>
                    <a:pt x="2983" y="0"/>
                    <a:pt x="6663" y="0"/>
                  </a:cubicBezTo>
                  <a:close/>
                </a:path>
              </a:pathLst>
            </a:custGeom>
            <a:ln w="28575" cap="sq">
              <a:solidFill>
                <a:srgbClr val="075B5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384036" cy="524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38" id="38"/>
          <p:cNvSpPr/>
          <p:nvPr/>
        </p:nvSpPr>
        <p:spPr>
          <a:xfrm flipV="true">
            <a:off x="1699471" y="7953691"/>
            <a:ext cx="8717679" cy="0"/>
          </a:xfrm>
          <a:prstGeom prst="line">
            <a:avLst/>
          </a:prstGeom>
          <a:ln cap="flat" w="38100">
            <a:solidFill>
              <a:srgbClr val="075B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0997408" y="7066519"/>
            <a:ext cx="924109" cy="907136"/>
            <a:chOff x="0" y="0"/>
            <a:chExt cx="118507" cy="11633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8507" cy="116331"/>
            </a:xfrm>
            <a:custGeom>
              <a:avLst/>
              <a:gdLst/>
              <a:ahLst/>
              <a:cxnLst/>
              <a:rect r="r" b="b" t="t" l="l"/>
              <a:pathLst>
                <a:path h="116331" w="118507">
                  <a:moveTo>
                    <a:pt x="58165" y="0"/>
                  </a:moveTo>
                  <a:lnTo>
                    <a:pt x="60342" y="0"/>
                  </a:lnTo>
                  <a:cubicBezTo>
                    <a:pt x="92466" y="0"/>
                    <a:pt x="118507" y="26041"/>
                    <a:pt x="118507" y="58165"/>
                  </a:cubicBezTo>
                  <a:lnTo>
                    <a:pt x="118507" y="58165"/>
                  </a:lnTo>
                  <a:cubicBezTo>
                    <a:pt x="118507" y="90289"/>
                    <a:pt x="92466" y="116331"/>
                    <a:pt x="60342" y="116331"/>
                  </a:cubicBezTo>
                  <a:lnTo>
                    <a:pt x="58165" y="116331"/>
                  </a:lnTo>
                  <a:cubicBezTo>
                    <a:pt x="26041" y="116331"/>
                    <a:pt x="0" y="90289"/>
                    <a:pt x="0" y="58165"/>
                  </a:cubicBezTo>
                  <a:lnTo>
                    <a:pt x="0" y="58165"/>
                  </a:lnTo>
                  <a:cubicBezTo>
                    <a:pt x="0" y="26041"/>
                    <a:pt x="26041" y="0"/>
                    <a:pt x="58165" y="0"/>
                  </a:cubicBezTo>
                  <a:close/>
                </a:path>
              </a:pathLst>
            </a:custGeom>
            <a:solidFill>
              <a:srgbClr val="075B5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18507" cy="15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1228730" y="7222196"/>
            <a:ext cx="461464" cy="532086"/>
          </a:xfrm>
          <a:custGeom>
            <a:avLst/>
            <a:gdLst/>
            <a:ahLst/>
            <a:cxnLst/>
            <a:rect r="r" b="b" t="t" l="l"/>
            <a:pathLst>
              <a:path h="532086" w="461464">
                <a:moveTo>
                  <a:pt x="0" y="0"/>
                </a:moveTo>
                <a:lnTo>
                  <a:pt x="461464" y="0"/>
                </a:lnTo>
                <a:lnTo>
                  <a:pt x="461464" y="532086"/>
                </a:lnTo>
                <a:lnTo>
                  <a:pt x="0" y="5320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3" id="43"/>
          <p:cNvSpPr/>
          <p:nvPr/>
        </p:nvSpPr>
        <p:spPr>
          <a:xfrm flipV="true">
            <a:off x="11261286" y="7953691"/>
            <a:ext cx="8717679" cy="0"/>
          </a:xfrm>
          <a:prstGeom prst="line">
            <a:avLst/>
          </a:prstGeom>
          <a:ln cap="flat" w="38100">
            <a:solidFill>
              <a:srgbClr val="075B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4" id="44"/>
          <p:cNvSpPr/>
          <p:nvPr/>
        </p:nvSpPr>
        <p:spPr>
          <a:xfrm flipH="false" flipV="false" rot="0">
            <a:off x="1728939" y="16495331"/>
            <a:ext cx="495106" cy="630708"/>
          </a:xfrm>
          <a:custGeom>
            <a:avLst/>
            <a:gdLst/>
            <a:ahLst/>
            <a:cxnLst/>
            <a:rect r="r" b="b" t="t" l="l"/>
            <a:pathLst>
              <a:path h="630708" w="495106">
                <a:moveTo>
                  <a:pt x="0" y="0"/>
                </a:moveTo>
                <a:lnTo>
                  <a:pt x="495106" y="0"/>
                </a:lnTo>
                <a:lnTo>
                  <a:pt x="495106" y="630708"/>
                </a:lnTo>
                <a:lnTo>
                  <a:pt x="0" y="6307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5" id="45"/>
          <p:cNvSpPr/>
          <p:nvPr/>
        </p:nvSpPr>
        <p:spPr>
          <a:xfrm>
            <a:off x="1728939" y="17272080"/>
            <a:ext cx="6709130" cy="0"/>
          </a:xfrm>
          <a:prstGeom prst="line">
            <a:avLst/>
          </a:prstGeom>
          <a:ln cap="flat" w="38100">
            <a:solidFill>
              <a:srgbClr val="075B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465060" y="27012900"/>
            <a:ext cx="924109" cy="907136"/>
            <a:chOff x="0" y="0"/>
            <a:chExt cx="118507" cy="11633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8507" cy="116331"/>
            </a:xfrm>
            <a:custGeom>
              <a:avLst/>
              <a:gdLst/>
              <a:ahLst/>
              <a:cxnLst/>
              <a:rect r="r" b="b" t="t" l="l"/>
              <a:pathLst>
                <a:path h="116331" w="118507">
                  <a:moveTo>
                    <a:pt x="58165" y="0"/>
                  </a:moveTo>
                  <a:lnTo>
                    <a:pt x="60342" y="0"/>
                  </a:lnTo>
                  <a:cubicBezTo>
                    <a:pt x="92466" y="0"/>
                    <a:pt x="118507" y="26041"/>
                    <a:pt x="118507" y="58165"/>
                  </a:cubicBezTo>
                  <a:lnTo>
                    <a:pt x="118507" y="58165"/>
                  </a:lnTo>
                  <a:cubicBezTo>
                    <a:pt x="118507" y="90289"/>
                    <a:pt x="92466" y="116331"/>
                    <a:pt x="60342" y="116331"/>
                  </a:cubicBezTo>
                  <a:lnTo>
                    <a:pt x="58165" y="116331"/>
                  </a:lnTo>
                  <a:cubicBezTo>
                    <a:pt x="26041" y="116331"/>
                    <a:pt x="0" y="90289"/>
                    <a:pt x="0" y="58165"/>
                  </a:cubicBezTo>
                  <a:lnTo>
                    <a:pt x="0" y="58165"/>
                  </a:lnTo>
                  <a:cubicBezTo>
                    <a:pt x="0" y="26041"/>
                    <a:pt x="26041" y="0"/>
                    <a:pt x="58165" y="0"/>
                  </a:cubicBezTo>
                  <a:close/>
                </a:path>
              </a:pathLst>
            </a:custGeom>
            <a:solidFill>
              <a:srgbClr val="075B5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18507" cy="15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614422" y="27139900"/>
            <a:ext cx="625385" cy="609750"/>
          </a:xfrm>
          <a:custGeom>
            <a:avLst/>
            <a:gdLst/>
            <a:ahLst/>
            <a:cxnLst/>
            <a:rect r="r" b="b" t="t" l="l"/>
            <a:pathLst>
              <a:path h="609750" w="625385">
                <a:moveTo>
                  <a:pt x="0" y="0"/>
                </a:moveTo>
                <a:lnTo>
                  <a:pt x="625385" y="0"/>
                </a:lnTo>
                <a:lnTo>
                  <a:pt x="625385" y="609750"/>
                </a:lnTo>
                <a:lnTo>
                  <a:pt x="0" y="6097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0" id="50"/>
          <p:cNvSpPr/>
          <p:nvPr/>
        </p:nvSpPr>
        <p:spPr>
          <a:xfrm flipV="true">
            <a:off x="1728939" y="27901900"/>
            <a:ext cx="18331985" cy="0"/>
          </a:xfrm>
          <a:prstGeom prst="line">
            <a:avLst/>
          </a:prstGeom>
          <a:ln cap="flat" w="38100">
            <a:solidFill>
              <a:srgbClr val="075B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15695435" y="910606"/>
            <a:ext cx="4365489" cy="2455588"/>
          </a:xfrm>
          <a:custGeom>
            <a:avLst/>
            <a:gdLst/>
            <a:ahLst/>
            <a:cxnLst/>
            <a:rect r="r" b="b" t="t" l="l"/>
            <a:pathLst>
              <a:path h="2455588" w="4365489">
                <a:moveTo>
                  <a:pt x="0" y="0"/>
                </a:moveTo>
                <a:lnTo>
                  <a:pt x="4365489" y="0"/>
                </a:lnTo>
                <a:lnTo>
                  <a:pt x="4365489" y="2455588"/>
                </a:lnTo>
                <a:lnTo>
                  <a:pt x="0" y="245558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420858" y="1068847"/>
            <a:ext cx="7594922" cy="1952570"/>
          </a:xfrm>
          <a:custGeom>
            <a:avLst/>
            <a:gdLst/>
            <a:ahLst/>
            <a:cxnLst/>
            <a:rect r="r" b="b" t="t" l="l"/>
            <a:pathLst>
              <a:path h="1952570" w="7594922">
                <a:moveTo>
                  <a:pt x="0" y="0"/>
                </a:moveTo>
                <a:lnTo>
                  <a:pt x="7594923" y="0"/>
                </a:lnTo>
                <a:lnTo>
                  <a:pt x="7594923" y="1952570"/>
                </a:lnTo>
                <a:lnTo>
                  <a:pt x="0" y="1952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420858" y="5080098"/>
            <a:ext cx="18640066" cy="1782776"/>
            <a:chOff x="0" y="0"/>
            <a:chExt cx="3792855" cy="36275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792855" cy="362757"/>
            </a:xfrm>
            <a:custGeom>
              <a:avLst/>
              <a:gdLst/>
              <a:ahLst/>
              <a:cxnLst/>
              <a:rect r="r" b="b" t="t" l="l"/>
              <a:pathLst>
                <a:path h="362757" w="3792855">
                  <a:moveTo>
                    <a:pt x="6645" y="0"/>
                  </a:moveTo>
                  <a:lnTo>
                    <a:pt x="3786210" y="0"/>
                  </a:lnTo>
                  <a:cubicBezTo>
                    <a:pt x="3789880" y="0"/>
                    <a:pt x="3792855" y="2975"/>
                    <a:pt x="3792855" y="6645"/>
                  </a:cubicBezTo>
                  <a:lnTo>
                    <a:pt x="3792855" y="356111"/>
                  </a:lnTo>
                  <a:cubicBezTo>
                    <a:pt x="3792855" y="357874"/>
                    <a:pt x="3792155" y="359564"/>
                    <a:pt x="3790909" y="360810"/>
                  </a:cubicBezTo>
                  <a:cubicBezTo>
                    <a:pt x="3789662" y="362057"/>
                    <a:pt x="3787972" y="362757"/>
                    <a:pt x="3786210" y="362757"/>
                  </a:cubicBezTo>
                  <a:lnTo>
                    <a:pt x="6645" y="362757"/>
                  </a:lnTo>
                  <a:cubicBezTo>
                    <a:pt x="2975" y="362757"/>
                    <a:pt x="0" y="359782"/>
                    <a:pt x="0" y="356111"/>
                  </a:cubicBezTo>
                  <a:lnTo>
                    <a:pt x="0" y="6645"/>
                  </a:lnTo>
                  <a:cubicBezTo>
                    <a:pt x="0" y="2975"/>
                    <a:pt x="2975" y="0"/>
                    <a:pt x="6645" y="0"/>
                  </a:cubicBezTo>
                  <a:close/>
                </a:path>
              </a:pathLst>
            </a:custGeom>
            <a:ln w="57150" cap="sq">
              <a:solidFill>
                <a:srgbClr val="075B50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3792855" cy="400857"/>
            </a:xfrm>
            <a:prstGeom prst="rect">
              <a:avLst/>
            </a:prstGeom>
          </p:spPr>
          <p:txBody>
            <a:bodyPr anchor="ctr" rtlCol="false" tIns="32016" lIns="32016" bIns="32016" rIns="32016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true" flipV="false" rot="0">
            <a:off x="1728939" y="5485177"/>
            <a:ext cx="1151025" cy="972616"/>
          </a:xfrm>
          <a:custGeom>
            <a:avLst/>
            <a:gdLst/>
            <a:ahLst/>
            <a:cxnLst/>
            <a:rect r="r" b="b" t="t" l="l"/>
            <a:pathLst>
              <a:path h="972616" w="1151025">
                <a:moveTo>
                  <a:pt x="1151025" y="0"/>
                </a:moveTo>
                <a:lnTo>
                  <a:pt x="0" y="0"/>
                </a:lnTo>
                <a:lnTo>
                  <a:pt x="0" y="972617"/>
                </a:lnTo>
                <a:lnTo>
                  <a:pt x="1151025" y="972617"/>
                </a:lnTo>
                <a:lnTo>
                  <a:pt x="1151025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 descr="Ginkgo logo: a ginkgo leaf holding a city skyline above floodwater, with the words GINKGO, flood command center"/>
          <p:cNvSpPr/>
          <p:nvPr/>
        </p:nvSpPr>
        <p:spPr>
          <a:xfrm flipH="false" flipV="false" rot="0">
            <a:off x="9429224" y="1282700"/>
            <a:ext cx="5830352" cy="1498600"/>
          </a:xfrm>
          <a:custGeom>
            <a:avLst/>
            <a:gdLst/>
            <a:ahLst/>
            <a:cxnLst/>
            <a:rect r="r" b="b" t="t" l="l"/>
            <a:pathLst>
              <a:path h="1790096" w="6595815">
                <a:moveTo>
                  <a:pt x="0" y="0"/>
                </a:moveTo>
                <a:lnTo>
                  <a:pt x="6595816" y="0"/>
                </a:lnTo>
                <a:lnTo>
                  <a:pt x="6595816" y="1790096"/>
                </a:lnTo>
                <a:lnTo>
                  <a:pt x="0" y="179009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1435592" y="3395619"/>
            <a:ext cx="4134428" cy="142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9"/>
              </a:lnSpc>
            </a:pPr>
            <a:r>
              <a:rPr lang="en-US" sz="10313">
                <a:solidFill>
                  <a:srgbClr val="075B50"/>
                </a:solidFill>
                <a:latin typeface="Anton"/>
                <a:ea typeface="Anton"/>
                <a:cs typeface="Anton"/>
                <a:sym typeface="Anton"/>
              </a:rPr>
              <a:t>GINKGO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811927" y="8222762"/>
            <a:ext cx="8316245" cy="771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9"/>
              </a:lnSpc>
            </a:pPr>
            <a:r>
              <a:rPr lang="en-US" sz="22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When floods come, people hear that a warning is in force, but not when to leave or where to go, and nobody can see which shelters will fill up. Ginkgo is a web-based flood command center for Selangor's nine districts that closes this gap.</a:t>
            </a:r>
          </a:p>
          <a:p>
            <a:pPr algn="just">
              <a:lnSpc>
                <a:spcPts val="3129"/>
              </a:lnSpc>
              <a:spcBef>
                <a:spcPts val="1200"/>
              </a:spcBef>
            </a:pPr>
            <a:r>
              <a:rPr lang="en-US" sz="22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Planning mode maps where river flooding is most likely, from satellite terrain, rivers, 38 years of surface-water records and census data on a grid of about 92 m cells. Flood drill mode then replays a storm hour by hour: it warns each neighbourhood on Japan's five-level scale, finds a walking or driving route along roads that stay dry to a centre that still has space, and says when to leave. A 3D model of Taman Sri Muda shows the water on the street, and an AI assistant answers in English or Malay with every figure checked against the data.</a:t>
            </a:r>
          </a:p>
          <a:p>
            <a:pPr algn="just">
              <a:lnSpc>
                <a:spcPts val="3129"/>
              </a:lnSpc>
              <a:spcBef>
                <a:spcPts val="1200"/>
              </a:spcBef>
            </a:pPr>
            <a:r>
              <a:rPr lang="en-US" sz="22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 runs in a browser on open data (Copernicus, OpenStreetMap, JRC, ESA, Meta, DOSM), so no GIS software is needed. The drill is a simulation for rehearsal, not a forecast.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049000" y="8222762"/>
            <a:ext cx="8509000" cy="116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2681" indent="-241340" lvl="1">
              <a:lnSpc>
                <a:spcPts val="3129"/>
              </a:lnSpc>
              <a:buFont typeface="Arial"/>
              <a:buChar char="•"/>
            </a:pPr>
            <a:r>
              <a:rPr lang="en-US" sz="22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Map where river flooding is most likely in Selangor under Normal, Heavy and Extreme rain, in a form anyone can read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83970" y="5213295"/>
            <a:ext cx="11643974" cy="32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5"/>
              </a:lnSpc>
              <a:spcBef>
                <a:spcPct val="0"/>
              </a:spcBef>
            </a:pPr>
            <a:r>
              <a:rPr lang="en-US" b="true" sz="1925" spc="119">
                <a:solidFill>
                  <a:srgbClr val="075B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SUPERVISOR: TS. NURZEATUL HAMIMAH BINTI ABDUL HAMID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502806" y="6447113"/>
            <a:ext cx="10413917" cy="236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2"/>
              </a:lnSpc>
              <a:spcBef>
                <a:spcPct val="0"/>
              </a:spcBef>
            </a:pPr>
            <a:r>
              <a:rPr lang="en-US" sz="1408" spc="87">
                <a:solidFill>
                  <a:srgbClr val="075B50"/>
                </a:solidFill>
                <a:latin typeface="Montserrat"/>
                <a:ea typeface="Montserrat"/>
                <a:cs typeface="Montserrat"/>
                <a:sym typeface="Montserrat"/>
              </a:rPr>
              <a:t>INSTITUTION: FACULTY OF COMPUTER AND MATHEMATICAL SCIENCES, UNIVERSITI TEKNOLOGI MARA |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627047" y="7191688"/>
            <a:ext cx="3045360" cy="590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0"/>
              </a:lnSpc>
              <a:spcBef>
                <a:spcPct val="0"/>
              </a:spcBef>
            </a:pPr>
            <a:r>
              <a:rPr lang="en-US" sz="3493" spc="216">
                <a:solidFill>
                  <a:srgbClr val="075B50"/>
                </a:solidFill>
                <a:latin typeface="Anton"/>
                <a:ea typeface="Anton"/>
                <a:cs typeface="Anton"/>
                <a:sym typeface="Anton"/>
              </a:rPr>
              <a:t>ABS</a:t>
            </a:r>
            <a:r>
              <a:rPr lang="en-US" sz="3493" spc="216">
                <a:solidFill>
                  <a:srgbClr val="075B50"/>
                </a:solidFill>
                <a:latin typeface="Anton"/>
                <a:ea typeface="Anton"/>
                <a:cs typeface="Anton"/>
                <a:sym typeface="Anton"/>
              </a:rPr>
              <a:t>TRACT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811927" y="28117800"/>
            <a:ext cx="17788122" cy="119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9"/>
              </a:lnSpc>
            </a:pPr>
            <a:r>
              <a:rPr lang="en-US" sz="22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Ginkgo turns a flood map into a plan: when each neighbourhood must leave, where there is space, and how to get there on dry roads. Checked against 7 reported December 2021 flood sites (4 flagged High, 2 of 2 hilly controls Low). A simulation for rehearsal, not a forecast.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839200" y="17703800"/>
            <a:ext cx="5118100" cy="53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3"/>
              </a:lnSpc>
              <a:spcBef>
                <a:spcPct val="0"/>
              </a:spcBef>
            </a:pPr>
            <a:r>
              <a:rPr lang="en-US" sz="3074" spc="190">
                <a:solidFill>
                  <a:srgbClr val="075B50"/>
                </a:solidFill>
                <a:latin typeface="Anton"/>
                <a:ea typeface="Anton"/>
                <a:cs typeface="Anton"/>
                <a:sym typeface="Anton"/>
              </a:rPr>
              <a:t>RISK BY DISTRICT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122400" y="17703800"/>
            <a:ext cx="5930900" cy="53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3"/>
              </a:lnSpc>
              <a:spcBef>
                <a:spcPct val="0"/>
              </a:spcBef>
            </a:pPr>
            <a:r>
              <a:rPr lang="en-US" sz="3074" spc="190">
                <a:solidFill>
                  <a:srgbClr val="075B50"/>
                </a:solidFill>
                <a:latin typeface="Anton"/>
                <a:ea typeface="Anton"/>
                <a:cs typeface="Anton"/>
                <a:sym typeface="Anton"/>
              </a:rPr>
              <a:t>THE EVACUATION GAP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188863" y="7191688"/>
            <a:ext cx="3045360" cy="59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0"/>
              </a:lnSpc>
              <a:spcBef>
                <a:spcPct val="0"/>
              </a:spcBef>
            </a:pPr>
            <a:r>
              <a:rPr lang="en-US" sz="3493" spc="216">
                <a:solidFill>
                  <a:srgbClr val="075B50"/>
                </a:solidFill>
                <a:latin typeface="Anton"/>
                <a:ea typeface="Anton"/>
                <a:cs typeface="Anton"/>
                <a:sym typeface="Anton"/>
              </a:rPr>
              <a:t>OBJECTIVE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811927" y="17703800"/>
            <a:ext cx="6350000" cy="119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2680" indent="-241340" lvl="1">
              <a:lnSpc>
                <a:spcPts val="3129"/>
              </a:lnSpc>
              <a:buFont typeface="Arial"/>
              <a:buChar char="•"/>
            </a:pPr>
            <a:r>
              <a:rPr lang="en-US" sz="22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Turns open satellite and census data into a risk map, a drill and routes that anyone can use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811927" y="19226530"/>
            <a:ext cx="6350000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2680" indent="-241340" lvl="1">
              <a:lnSpc>
                <a:spcPts val="3129"/>
              </a:lnSpc>
              <a:buFont typeface="Arial"/>
              <a:buChar char="•"/>
            </a:pPr>
            <a:r>
              <a:rPr lang="en-US" sz="22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Gives each household a dry route, a centre with space and a leave-by time</a:t>
            </a:r>
          </a:p>
        </p:txBody>
      </p:sp>
      <p:sp>
        <p:nvSpPr>
          <p:cNvPr name="TextBox 85" id="93"/>
          <p:cNvSpPr txBox="true"/>
          <p:nvPr/>
        </p:nvSpPr>
        <p:spPr>
          <a:xfrm rot="0">
            <a:off x="1811927" y="20351750"/>
            <a:ext cx="6350000" cy="119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2680" indent="-241340" lvl="1">
              <a:lnSpc>
                <a:spcPts val="3129"/>
              </a:lnSpc>
              <a:buFont typeface="Arial"/>
              <a:buChar char="•"/>
            </a:pPr>
            <a:r>
              <a:rPr lang="en-US" sz="22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Open data and a browser app keep costs low: an AI answer is a few US cents, repeats are free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811927" y="21874480"/>
            <a:ext cx="6350000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2680" indent="-241340" lvl="1">
              <a:lnSpc>
                <a:spcPts val="3129"/>
              </a:lnSpc>
              <a:buFont typeface="Arial"/>
              <a:buChar char="•"/>
            </a:pPr>
            <a:r>
              <a:rPr lang="en-US" sz="22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Next: a council pilot on live river gauges, then Malaysia and ASEAN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656515" y="16510078"/>
            <a:ext cx="10610895" cy="59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0"/>
              </a:lnSpc>
              <a:spcBef>
                <a:spcPct val="0"/>
              </a:spcBef>
            </a:pPr>
            <a:r>
              <a:rPr lang="en-US" sz="3493" spc="21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USEFULNESS &amp; COMMERCIALISATION POTENTIAL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641781" y="27165300"/>
            <a:ext cx="3045360" cy="59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0"/>
              </a:lnSpc>
              <a:spcBef>
                <a:spcPct val="0"/>
              </a:spcBef>
            </a:pPr>
            <a:r>
              <a:rPr lang="en-US" sz="3493" spc="216">
                <a:solidFill>
                  <a:srgbClr val="075B50"/>
                </a:solidFill>
                <a:latin typeface="Anton"/>
                <a:ea typeface="Anton"/>
                <a:cs typeface="Anton"/>
                <a:sym typeface="Anton"/>
              </a:rPr>
              <a:t>CON</a:t>
            </a:r>
            <a:r>
              <a:rPr lang="en-US" sz="3493" spc="216">
                <a:solidFill>
                  <a:srgbClr val="075B50"/>
                </a:solidFill>
                <a:latin typeface="Anton"/>
                <a:ea typeface="Anton"/>
                <a:cs typeface="Anton"/>
                <a:sym typeface="Anton"/>
              </a:rPr>
              <a:t>CLUSION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570020" y="3387604"/>
            <a:ext cx="14490904" cy="1241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6"/>
              </a:lnSpc>
              <a:spcBef>
                <a:spcPct val="0"/>
              </a:spcBef>
            </a:pPr>
            <a:r>
              <a:rPr lang="en-US" b="true" sz="3633" spc="225">
                <a:solidFill>
                  <a:srgbClr val="075B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FLOOD COMMAND CENTER: FROM RISK MAP TO EVACUATION PLAN FOR SELANGOR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916724" y="6447113"/>
            <a:ext cx="5515332" cy="236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2"/>
              </a:lnSpc>
              <a:spcBef>
                <a:spcPct val="0"/>
              </a:spcBef>
            </a:pPr>
            <a:r>
              <a:rPr lang="en-US" sz="1408" spc="87">
                <a:solidFill>
                  <a:srgbClr val="075B50"/>
                </a:solidFill>
                <a:latin typeface="Montserrat"/>
                <a:ea typeface="Montserrat"/>
                <a:cs typeface="Montserrat"/>
                <a:sym typeface="Montserrat"/>
              </a:rPr>
              <a:t>URBIEE NO.: B</a:t>
            </a:r>
            <a:r>
              <a:rPr lang="en-US" sz="1408" spc="87">
                <a:solidFill>
                  <a:srgbClr val="075B50"/>
                </a:solidFill>
                <a:latin typeface="Montserrat"/>
                <a:ea typeface="Montserrat"/>
                <a:cs typeface="Montserrat"/>
                <a:sym typeface="Montserrat"/>
              </a:rPr>
              <a:t>ST03 | CATEGORY B UITM STUDENTS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3436999" y="5624291"/>
            <a:ext cx="14657338" cy="6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6"/>
              </a:lnSpc>
              <a:spcBef>
                <a:spcPct val="0"/>
              </a:spcBef>
            </a:pPr>
            <a:r>
              <a:rPr lang="en-US" b="true" sz="1911" spc="118">
                <a:solidFill>
                  <a:srgbClr val="075B5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PREPARED BY  MUHAMMAD LUQMAN NURHAKIM BIN ROSLI, BATRISYIA AFRINA BINTI RISAMUDDIN, NADYIE AZIL BIN NAZERI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049000" y="9518526"/>
            <a:ext cx="8509000" cy="116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2681" indent="-241340" lvl="1">
              <a:lnSpc>
                <a:spcPts val="3129"/>
              </a:lnSpc>
              <a:buFont typeface="Arial"/>
              <a:buChar char="•"/>
            </a:pPr>
            <a:r>
              <a:rPr lang="en-US" sz="22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Rehearse a flood hour by hour, with alerts on Japan's five-level scale and a one-hour look-ahead for each neighbourhood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049000" y="10814290"/>
            <a:ext cx="8509000" cy="116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2681" indent="-241340" lvl="1">
              <a:lnSpc>
                <a:spcPts val="3129"/>
              </a:lnSpc>
              <a:buFont typeface="Arial"/>
              <a:buChar char="•"/>
            </a:pPr>
            <a:r>
              <a:rPr lang="en-US" sz="22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Guide each household along a dry route to an evacuation centre that still has space, and say when to leave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1049000" y="12110054"/>
            <a:ext cx="8509000" cy="116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2681" indent="-241340" lvl="1">
              <a:lnSpc>
                <a:spcPts val="3129"/>
              </a:lnSpc>
              <a:buFont typeface="Arial"/>
              <a:buChar char="•"/>
            </a:pPr>
            <a:r>
              <a:rPr lang="en-US" sz="22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Show the water on the street in 3D, and let anyone ask in English or Malay with every number checked against the data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8839200" y="18262600"/>
            <a:ext cx="5118100" cy="298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9"/>
              </a:lnSpc>
            </a:pPr>
            <a:r>
              <a:rPr lang="en-US" sz="17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High and Moderate share of land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4122400" y="18262600"/>
            <a:ext cx="5930900" cy="298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9"/>
              </a:lnSpc>
            </a:pPr>
            <a:r>
              <a:rPr lang="en-US" sz="17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Klang storm drill, people (thousands)</a:t>
            </a:r>
          </a:p>
        </p:txBody>
      </p:sp>
      <p:sp>
        <p:nvSpPr>
          <p:cNvPr id="84" name="Key figure 1"/>
          <p:cNvSpPr/>
          <p:nvPr/>
        </p:nvSpPr>
        <p:spPr>
          <a:xfrm>
            <a:off x="10998200" y="13817600"/>
            <a:ext cx="2904067" cy="2362200"/>
          </a:xfrm>
          <a:prstGeom prst="roundRect">
            <a:avLst>
              <a:gd name="adj" fmla="val 7000"/>
            </a:avLst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Key figure 1 value"/>
          <p:cNvSpPr txBox="1"/>
          <p:nvPr/>
        </p:nvSpPr>
        <p:spPr>
          <a:xfrm>
            <a:off x="11176000" y="14020800"/>
            <a:ext cx="2548467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spc="60">
                <a:solidFill>
                  <a:srgbClr val="075B50"/>
                </a:solidFill>
                <a:latin typeface="Anton"/>
              </a:rPr>
              <a:t>24.1%</a:t>
            </a:r>
          </a:p>
        </p:txBody>
      </p:sp>
      <p:sp>
        <p:nvSpPr>
          <p:cNvPr id="86" name="Key figure 1 label"/>
          <p:cNvSpPr txBox="1"/>
          <p:nvPr/>
        </p:nvSpPr>
        <p:spPr>
          <a:xfrm>
            <a:off x="11176000" y="14960600"/>
            <a:ext cx="2548467" cy="1092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600" b="0">
                <a:solidFill>
                  <a:srgbClr val="222222"/>
                </a:solidFill>
                <a:latin typeface="Montserrat"/>
              </a:rPr>
              <a:t>of Selangor's land has High flood susceptibility</a:t>
            </a:r>
          </a:p>
        </p:txBody>
      </p:sp>
      <p:sp>
        <p:nvSpPr>
          <p:cNvPr id="87" name="Key figure 2"/>
          <p:cNvSpPr/>
          <p:nvPr/>
        </p:nvSpPr>
        <p:spPr>
          <a:xfrm>
            <a:off x="14080067" y="13817600"/>
            <a:ext cx="2904067" cy="2362200"/>
          </a:xfrm>
          <a:prstGeom prst="roundRect">
            <a:avLst>
              <a:gd name="adj" fmla="val 7000"/>
            </a:avLst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Key figure 2 value"/>
          <p:cNvSpPr txBox="1"/>
          <p:nvPr/>
        </p:nvSpPr>
        <p:spPr>
          <a:xfrm>
            <a:off x="14257867" y="14020800"/>
            <a:ext cx="2548467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spc="60">
                <a:solidFill>
                  <a:srgbClr val="075B50"/>
                </a:solidFill>
                <a:latin typeface="Anton"/>
              </a:rPr>
              <a:t>~1.93M</a:t>
            </a:r>
          </a:p>
        </p:txBody>
      </p:sp>
      <p:sp>
        <p:nvSpPr>
          <p:cNvPr id="89" name="Key figure 2 label"/>
          <p:cNvSpPr txBox="1"/>
          <p:nvPr/>
        </p:nvSpPr>
        <p:spPr>
          <a:xfrm>
            <a:off x="14257867" y="14960600"/>
            <a:ext cx="2548467" cy="1092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600" b="0">
                <a:solidFill>
                  <a:srgbClr val="222222"/>
                </a:solidFill>
                <a:latin typeface="Montserrat"/>
              </a:rPr>
              <a:t>people live on land at High risk (estimate)</a:t>
            </a:r>
          </a:p>
        </p:txBody>
      </p:sp>
      <p:sp>
        <p:nvSpPr>
          <p:cNvPr id="90" name="Key figure 3"/>
          <p:cNvSpPr/>
          <p:nvPr/>
        </p:nvSpPr>
        <p:spPr>
          <a:xfrm>
            <a:off x="17161933" y="13817600"/>
            <a:ext cx="2904067" cy="2362200"/>
          </a:xfrm>
          <a:prstGeom prst="roundRect">
            <a:avLst>
              <a:gd name="adj" fmla="val 7000"/>
            </a:avLst>
          </a:prstGeom>
          <a:solidFill>
            <a:srgbClr val="E4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Key figure 3 value"/>
          <p:cNvSpPr txBox="1"/>
          <p:nvPr/>
        </p:nvSpPr>
        <p:spPr>
          <a:xfrm>
            <a:off x="17339733" y="14020800"/>
            <a:ext cx="2548467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spc="60">
                <a:solidFill>
                  <a:srgbClr val="075B50"/>
                </a:solidFill>
                <a:latin typeface="Anton"/>
              </a:rPr>
              <a:t>1,274</a:t>
            </a:r>
          </a:p>
        </p:txBody>
      </p:sp>
      <p:sp>
        <p:nvSpPr>
          <p:cNvPr id="92" name="Key figure 3 label"/>
          <p:cNvSpPr txBox="1"/>
          <p:nvPr/>
        </p:nvSpPr>
        <p:spPr>
          <a:xfrm>
            <a:off x="17339733" y="14960600"/>
            <a:ext cx="2548467" cy="1092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600" b="0">
                <a:solidFill>
                  <a:srgbClr val="222222"/>
                </a:solidFill>
                <a:latin typeface="Montserrat"/>
              </a:rPr>
              <a:t>candidate evacuation centres, each with a capacity</a:t>
            </a:r>
          </a:p>
        </p:txBody>
      </p:sp>
      <p:graphicFrame>
        <p:nvGraphicFramePr>
          <p:cNvPr id="94" name="Chart: flood risk by district" descr="Stacked bar chart of the share of land with High and Moderate flood susceptibility in each of Selangor's nine districts, Normal rain. Klang is highest: 59.8% High and 32.1% Moderate."/>
          <p:cNvGraphicFramePr>
            <a:graphicFrameLocks noGrp="1"/>
          </p:cNvGraphicFramePr>
          <p:nvPr/>
        </p:nvGraphicFramePr>
        <p:xfrm>
          <a:off x="8636000" y="18669000"/>
          <a:ext cx="5461000" cy="4013200"/>
        </p:xfrm>
        <a:graphic>
          <a:graphicData uri="http://schemas.openxmlformats.org/drawingml/2006/chart">
            <c:chart xmlns:c="http://schemas.openxmlformats.org/drawingml/2006/chart" r:id="rId18"/>
          </a:graphicData>
        </a:graphic>
      </p:graphicFrame>
      <p:graphicFrame>
        <p:nvGraphicFramePr>
          <p:cNvPr id="95" name="Chart: the evacuation gap" descr="Line chart over the first five hours of the Klang Valley storm drill, in thousands of people: the number whose cells flood within one hour peaks near 633 thousand at 3 hours; centres hold up to 141 thousand; 206 thousand have no centre within reach."/>
          <p:cNvGraphicFramePr>
            <a:graphicFrameLocks noGrp="1"/>
          </p:cNvGraphicFramePr>
          <p:nvPr/>
        </p:nvGraphicFramePr>
        <p:xfrm>
          <a:off x="14198600" y="18669000"/>
          <a:ext cx="5778500" cy="4013200"/>
        </p:xfrm>
        <a:graphic>
          <a:graphicData uri="http://schemas.openxmlformats.org/drawingml/2006/chart">
            <c:chart xmlns:c="http://schemas.openxmlformats.org/drawingml/2006/chart" r:id="rId19"/>
          </a:graphicData>
        </a:graphic>
      </p:graphicFrame>
      <p:sp>
        <p:nvSpPr>
          <p:cNvPr id="96" name="Source: risk by district"/>
          <p:cNvSpPr txBox="1"/>
          <p:nvPr/>
        </p:nvSpPr>
        <p:spPr>
          <a:xfrm>
            <a:off x="8839200" y="22733000"/>
            <a:ext cx="51181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Montserrat"/>
              </a:rPr>
              <a:t>Source: Ginkgo analysis of open data</a:t>
            </a:r>
          </a:p>
        </p:txBody>
      </p:sp>
      <p:sp>
        <p:nvSpPr>
          <p:cNvPr id="97" name="Source: evacuation gap"/>
          <p:cNvSpPr txBox="1"/>
          <p:nvPr/>
        </p:nvSpPr>
        <p:spPr>
          <a:xfrm>
            <a:off x="14122400" y="22733000"/>
            <a:ext cx="59309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Montserrat"/>
              </a:rPr>
              <a:t>Source: Ginkgo flood drill, Extreme rain (estimate)</a:t>
            </a:r>
          </a:p>
        </p:txBody>
      </p:sp>
      <p:sp>
        <p:nvSpPr>
          <p:cNvPr id="98" name="System in action: frame"/>
          <p:cNvSpPr/>
          <p:nvPr/>
        </p:nvSpPr>
        <p:spPr>
          <a:xfrm>
            <a:off x="1460500" y="23304500"/>
            <a:ext cx="18605500" cy="3429000"/>
          </a:xfrm>
          <a:prstGeom prst="roundRect">
            <a:avLst>
              <a:gd name="adj" fmla="val 4500"/>
            </a:avLst>
          </a:prstGeom>
          <a:noFill/>
          <a:ln w="28575">
            <a:solidFill>
              <a:srgbClr val="075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System in action: badge"/>
          <p:cNvSpPr/>
          <p:nvPr/>
        </p:nvSpPr>
        <p:spPr>
          <a:xfrm>
            <a:off x="1460500" y="23329900"/>
            <a:ext cx="927100" cy="901700"/>
          </a:xfrm>
          <a:prstGeom prst="ellipse">
            <a:avLst/>
          </a:prstGeom>
          <a:solidFill>
            <a:srgbClr val="075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Screen ic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89100" y="23545800"/>
            <a:ext cx="469900" cy="469900"/>
          </a:xfrm>
          <a:prstGeom prst="rect">
            <a:avLst/>
          </a:prstGeom>
        </p:spPr>
      </p:pic>
      <p:sp>
        <p:nvSpPr>
          <p:cNvPr id="101" name="System in action: title"/>
          <p:cNvSpPr txBox="1"/>
          <p:nvPr/>
        </p:nvSpPr>
        <p:spPr>
          <a:xfrm>
            <a:off x="2641600" y="23482300"/>
            <a:ext cx="88900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90"/>
              </a:lnSpc>
            </a:pPr>
            <a:r>
              <a:rPr sz="3493" b="0" spc="216">
                <a:solidFill>
                  <a:srgbClr val="075B50"/>
                </a:solidFill>
                <a:latin typeface="Anton"/>
              </a:rPr>
              <a:t>SYSTEM IN ACTION</a:t>
            </a:r>
          </a:p>
        </p:txBody>
      </p:sp>
      <p:cxnSp>
        <p:nvCxnSpPr>
          <p:cNvPr id="102" name="System in action: rule"/>
          <p:cNvCxnSpPr/>
          <p:nvPr/>
        </p:nvCxnSpPr>
        <p:spPr>
          <a:xfrm>
            <a:off x="1727200" y="24218900"/>
            <a:ext cx="18326100" cy="0"/>
          </a:xfrm>
          <a:prstGeom prst="line">
            <a:avLst/>
          </a:prstGeom>
          <a:ln w="38100">
            <a:solidFill>
              <a:srgbClr val="075B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" name="Screenshot 1" descr="Screenshot of the planning map of Selangor, red where river flooding is most likely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9900" y="24422100"/>
            <a:ext cx="5829300" cy="2159000"/>
          </a:xfrm>
          <a:prstGeom prst="rect">
            <a:avLst/>
          </a:prstGeom>
          <a:ln w="12700">
            <a:solidFill>
              <a:srgbClr val="B8C4C1"/>
            </a:solidFill>
          </a:ln>
        </p:spPr>
      </p:pic>
      <p:sp>
        <p:nvSpPr>
          <p:cNvPr id="104" name="Screenshot 1 caption"/>
          <p:cNvSpPr/>
          <p:nvPr/>
        </p:nvSpPr>
        <p:spPr>
          <a:xfrm>
            <a:off x="1866900" y="26022300"/>
            <a:ext cx="5575300" cy="431800"/>
          </a:xfrm>
          <a:prstGeom prst="roundRect">
            <a:avLst>
              <a:gd name="adj" fmla="val 30000"/>
            </a:avLst>
          </a:prstGeom>
          <a:solidFill>
            <a:srgbClr val="075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0" bIns="0" wrap="square"/>
          <a:lstStyle/>
          <a:p>
            <a:pPr algn="l"/>
            <a:r>
              <a:rPr sz="1600" b="1">
                <a:solidFill>
                  <a:srgbClr val="B7E8C5"/>
                </a:solidFill>
                <a:latin typeface="Montserrat Bold"/>
              </a:rPr>
              <a:t>1  MAP   </a:t>
            </a:r>
            <a:r>
              <a:rPr sz="1600" b="0">
                <a:solidFill>
                  <a:srgbClr val="FFFFFF"/>
                </a:solidFill>
                <a:latin typeface="Montserrat"/>
              </a:rPr>
              <a:t>Where river flooding is most likely</a:t>
            </a:r>
          </a:p>
        </p:txBody>
      </p:sp>
      <p:pic>
        <p:nvPicPr>
          <p:cNvPr id="105" name="Screenshot 2" descr="Screenshot of the flood drill: a blue evacuation route on the map, around flooded neighbourhoods, to a centre with spac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48600" y="24422100"/>
            <a:ext cx="5829300" cy="2159000"/>
          </a:xfrm>
          <a:prstGeom prst="rect">
            <a:avLst/>
          </a:prstGeom>
          <a:ln w="12700">
            <a:solidFill>
              <a:srgbClr val="B8C4C1"/>
            </a:solidFill>
          </a:ln>
        </p:spPr>
      </p:pic>
      <p:sp>
        <p:nvSpPr>
          <p:cNvPr id="106" name="Screenshot 2 caption"/>
          <p:cNvSpPr/>
          <p:nvPr/>
        </p:nvSpPr>
        <p:spPr>
          <a:xfrm>
            <a:off x="7975600" y="26022300"/>
            <a:ext cx="5575300" cy="431800"/>
          </a:xfrm>
          <a:prstGeom prst="roundRect">
            <a:avLst>
              <a:gd name="adj" fmla="val 30000"/>
            </a:avLst>
          </a:prstGeom>
          <a:solidFill>
            <a:srgbClr val="075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0" bIns="0" wrap="square"/>
          <a:lstStyle/>
          <a:p>
            <a:pPr algn="l"/>
            <a:r>
              <a:rPr sz="1600" b="1">
                <a:solidFill>
                  <a:srgbClr val="B7E8C5"/>
                </a:solidFill>
                <a:latin typeface="Montserrat Bold"/>
              </a:rPr>
              <a:t>2  DRILL   </a:t>
            </a:r>
            <a:r>
              <a:rPr sz="1600" b="0">
                <a:solidFill>
                  <a:srgbClr val="FFFFFF"/>
                </a:solidFill>
                <a:latin typeface="Montserrat"/>
              </a:rPr>
              <a:t>Alert, dry route, centre with space</a:t>
            </a:r>
          </a:p>
        </p:txBody>
      </p:sp>
      <p:pic>
        <p:nvPicPr>
          <p:cNvPr id="107" name="Screenshot 3" descr="Screenshot of the 3D model of Taman Sri Muda with floodwater between the houses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957300" y="24422100"/>
            <a:ext cx="5829300" cy="2159000"/>
          </a:xfrm>
          <a:prstGeom prst="rect">
            <a:avLst/>
          </a:prstGeom>
          <a:ln w="12700">
            <a:solidFill>
              <a:srgbClr val="B8C4C1"/>
            </a:solidFill>
          </a:ln>
        </p:spPr>
      </p:pic>
      <p:sp>
        <p:nvSpPr>
          <p:cNvPr id="108" name="Screenshot 3 caption"/>
          <p:cNvSpPr/>
          <p:nvPr/>
        </p:nvSpPr>
        <p:spPr>
          <a:xfrm>
            <a:off x="14084300" y="26022300"/>
            <a:ext cx="5575300" cy="431800"/>
          </a:xfrm>
          <a:prstGeom prst="roundRect">
            <a:avLst>
              <a:gd name="adj" fmla="val 30000"/>
            </a:avLst>
          </a:prstGeom>
          <a:solidFill>
            <a:srgbClr val="075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0" bIns="0" wrap="square"/>
          <a:lstStyle/>
          <a:p>
            <a:pPr algn="l"/>
            <a:r>
              <a:rPr sz="1600" b="1">
                <a:solidFill>
                  <a:srgbClr val="B7E8C5"/>
                </a:solidFill>
                <a:latin typeface="Montserrat Bold"/>
              </a:rPr>
              <a:t>3  3D   </a:t>
            </a:r>
            <a:r>
              <a:rPr sz="1600" b="0">
                <a:solidFill>
                  <a:srgbClr val="FFFFFF"/>
                </a:solidFill>
                <a:latin typeface="Montserrat"/>
              </a:rPr>
              <a:t>The water on the street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DAHUxEK3vdU</dc:identifier>
  <dcterms:modified xsi:type="dcterms:W3CDTF">2011-08-01T06:04:30Z</dcterms:modified>
  <cp:revision>1</cp:revision>
  <dc:title>GINKGO poster for URBIEE26</dc:title>
</cp:coreProperties>
</file>