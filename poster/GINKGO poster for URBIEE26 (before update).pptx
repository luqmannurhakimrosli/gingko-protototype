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21374100" cy="30276800"/>
  <p:notesSz cx="6858000" cy="9144000"/>
  <p:embeddedFontLst>
    <p:embeddedFont>
      <p:font typeface="Anton" charset="1" panose="00000500000000000000"/>
      <p:regular r:id="rId10"/>
    </p:embeddedFont>
    <p:embeddedFont>
      <p:font typeface="Montserrat" charset="1" panose="00000500000000000000"/>
      <p:regular r:id="rId11"/>
    </p:embeddedFont>
    <p:embeddedFont>
      <p:font typeface="Montserrat Bold" charset="1" panose="000008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pn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2160" y="-1777509"/>
            <a:ext cx="22958622" cy="2437583"/>
            <a:chOff x="0" y="0"/>
            <a:chExt cx="2944199" cy="312594"/>
          </a:xfrm>
        </p:grpSpPr>
        <p:sp>
          <p:nvSpPr>
            <p:cNvPr name="Freeform 3" id="3"/>
            <p:cNvSpPr/>
            <p:nvPr/>
          </p:nvSpPr>
          <p:spPr>
            <a:xfrm flipH="false" flipV="false" rot="0">
              <a:off x="0" y="0"/>
              <a:ext cx="2944199" cy="312594"/>
            </a:xfrm>
            <a:custGeom>
              <a:avLst/>
              <a:gdLst/>
              <a:ahLst/>
              <a:cxnLst/>
              <a:rect r="r" b="b" t="t" l="l"/>
              <a:pathLst>
                <a:path h="312594" w="2944199">
                  <a:moveTo>
                    <a:pt x="9105" y="0"/>
                  </a:moveTo>
                  <a:lnTo>
                    <a:pt x="2935094" y="0"/>
                  </a:lnTo>
                  <a:cubicBezTo>
                    <a:pt x="2940123" y="0"/>
                    <a:pt x="2944199" y="4076"/>
                    <a:pt x="2944199" y="9105"/>
                  </a:cubicBezTo>
                  <a:lnTo>
                    <a:pt x="2944199" y="303489"/>
                  </a:lnTo>
                  <a:cubicBezTo>
                    <a:pt x="2944199" y="305904"/>
                    <a:pt x="2943240" y="308220"/>
                    <a:pt x="2941532" y="309927"/>
                  </a:cubicBezTo>
                  <a:cubicBezTo>
                    <a:pt x="2939825" y="311635"/>
                    <a:pt x="2937509" y="312594"/>
                    <a:pt x="2935094" y="312594"/>
                  </a:cubicBezTo>
                  <a:lnTo>
                    <a:pt x="9105" y="312594"/>
                  </a:lnTo>
                  <a:cubicBezTo>
                    <a:pt x="6690" y="312594"/>
                    <a:pt x="4374" y="311635"/>
                    <a:pt x="2667" y="309927"/>
                  </a:cubicBezTo>
                  <a:cubicBezTo>
                    <a:pt x="959" y="308220"/>
                    <a:pt x="0" y="305904"/>
                    <a:pt x="0" y="303489"/>
                  </a:cubicBezTo>
                  <a:lnTo>
                    <a:pt x="0" y="9105"/>
                  </a:lnTo>
                  <a:cubicBezTo>
                    <a:pt x="0" y="6690"/>
                    <a:pt x="959" y="4374"/>
                    <a:pt x="2667" y="2667"/>
                  </a:cubicBezTo>
                  <a:cubicBezTo>
                    <a:pt x="4374" y="959"/>
                    <a:pt x="6690" y="0"/>
                    <a:pt x="9105" y="0"/>
                  </a:cubicBezTo>
                  <a:close/>
                </a:path>
              </a:pathLst>
            </a:custGeom>
            <a:solidFill>
              <a:srgbClr val="0B6F62"/>
            </a:solidFill>
          </p:spPr>
        </p:sp>
        <p:sp>
          <p:nvSpPr>
            <p:cNvPr name="TextBox 4" id="4"/>
            <p:cNvSpPr txBox="true"/>
            <p:nvPr/>
          </p:nvSpPr>
          <p:spPr>
            <a:xfrm>
              <a:off x="0" y="-38100"/>
              <a:ext cx="2944199" cy="350694"/>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420858" y="7043849"/>
            <a:ext cx="9081249" cy="9188660"/>
            <a:chOff x="0" y="0"/>
            <a:chExt cx="1164574" cy="1178348"/>
          </a:xfrm>
        </p:grpSpPr>
        <p:sp>
          <p:nvSpPr>
            <p:cNvPr name="Freeform 6" id="6"/>
            <p:cNvSpPr/>
            <p:nvPr/>
          </p:nvSpPr>
          <p:spPr>
            <a:xfrm flipH="false" flipV="false" rot="0">
              <a:off x="0" y="0"/>
              <a:ext cx="1164574" cy="1178348"/>
            </a:xfrm>
            <a:custGeom>
              <a:avLst/>
              <a:gdLst/>
              <a:ahLst/>
              <a:cxnLst/>
              <a:rect r="r" b="b" t="t" l="l"/>
              <a:pathLst>
                <a:path h="1178348" w="1164574">
                  <a:moveTo>
                    <a:pt x="13640" y="0"/>
                  </a:moveTo>
                  <a:lnTo>
                    <a:pt x="1150933" y="0"/>
                  </a:lnTo>
                  <a:cubicBezTo>
                    <a:pt x="1158467" y="0"/>
                    <a:pt x="1164574" y="6107"/>
                    <a:pt x="1164574" y="13640"/>
                  </a:cubicBezTo>
                  <a:lnTo>
                    <a:pt x="1164574" y="1164708"/>
                  </a:lnTo>
                  <a:cubicBezTo>
                    <a:pt x="1164574" y="1168325"/>
                    <a:pt x="1163137" y="1171795"/>
                    <a:pt x="1160579" y="1174353"/>
                  </a:cubicBezTo>
                  <a:cubicBezTo>
                    <a:pt x="1158020" y="1176911"/>
                    <a:pt x="1154551" y="1178348"/>
                    <a:pt x="1150933" y="1178348"/>
                  </a:cubicBezTo>
                  <a:lnTo>
                    <a:pt x="13640" y="1178348"/>
                  </a:lnTo>
                  <a:cubicBezTo>
                    <a:pt x="6107" y="1178348"/>
                    <a:pt x="0" y="1172241"/>
                    <a:pt x="0" y="1164708"/>
                  </a:cubicBezTo>
                  <a:lnTo>
                    <a:pt x="0" y="13640"/>
                  </a:lnTo>
                  <a:cubicBezTo>
                    <a:pt x="0" y="6107"/>
                    <a:pt x="6107" y="0"/>
                    <a:pt x="13640" y="0"/>
                  </a:cubicBezTo>
                  <a:close/>
                </a:path>
              </a:pathLst>
            </a:custGeom>
            <a:ln w="28575" cap="sq">
              <a:solidFill>
                <a:srgbClr val="075B50"/>
              </a:solidFill>
              <a:prstDash val="solid"/>
              <a:miter/>
            </a:ln>
          </p:spPr>
        </p:sp>
        <p:sp>
          <p:nvSpPr>
            <p:cNvPr name="TextBox 7" id="7"/>
            <p:cNvSpPr txBox="true"/>
            <p:nvPr/>
          </p:nvSpPr>
          <p:spPr>
            <a:xfrm>
              <a:off x="0" y="-38100"/>
              <a:ext cx="1164574" cy="1216448"/>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765668" y="7043849"/>
            <a:ext cx="9295257" cy="6407708"/>
            <a:chOff x="0" y="0"/>
            <a:chExt cx="1192018" cy="821720"/>
          </a:xfrm>
        </p:grpSpPr>
        <p:sp>
          <p:nvSpPr>
            <p:cNvPr name="Freeform 9" id="9"/>
            <p:cNvSpPr/>
            <p:nvPr/>
          </p:nvSpPr>
          <p:spPr>
            <a:xfrm flipH="false" flipV="false" rot="0">
              <a:off x="0" y="0"/>
              <a:ext cx="1192018" cy="821720"/>
            </a:xfrm>
            <a:custGeom>
              <a:avLst/>
              <a:gdLst/>
              <a:ahLst/>
              <a:cxnLst/>
              <a:rect r="r" b="b" t="t" l="l"/>
              <a:pathLst>
                <a:path h="821720" w="1192018">
                  <a:moveTo>
                    <a:pt x="13326" y="0"/>
                  </a:moveTo>
                  <a:lnTo>
                    <a:pt x="1178692" y="0"/>
                  </a:lnTo>
                  <a:cubicBezTo>
                    <a:pt x="1182226" y="0"/>
                    <a:pt x="1185616" y="1404"/>
                    <a:pt x="1188115" y="3903"/>
                  </a:cubicBezTo>
                  <a:cubicBezTo>
                    <a:pt x="1190614" y="6402"/>
                    <a:pt x="1192018" y="9792"/>
                    <a:pt x="1192018" y="13326"/>
                  </a:cubicBezTo>
                  <a:lnTo>
                    <a:pt x="1192018" y="808394"/>
                  </a:lnTo>
                  <a:cubicBezTo>
                    <a:pt x="1192018" y="815754"/>
                    <a:pt x="1186051" y="821720"/>
                    <a:pt x="1178692" y="821720"/>
                  </a:cubicBezTo>
                  <a:lnTo>
                    <a:pt x="13326" y="821720"/>
                  </a:lnTo>
                  <a:cubicBezTo>
                    <a:pt x="5966" y="821720"/>
                    <a:pt x="0" y="815754"/>
                    <a:pt x="0" y="808394"/>
                  </a:cubicBezTo>
                  <a:lnTo>
                    <a:pt x="0" y="13326"/>
                  </a:lnTo>
                  <a:cubicBezTo>
                    <a:pt x="0" y="5966"/>
                    <a:pt x="5966" y="0"/>
                    <a:pt x="13326" y="0"/>
                  </a:cubicBezTo>
                  <a:close/>
                </a:path>
              </a:pathLst>
            </a:custGeom>
            <a:ln w="28575" cap="sq">
              <a:solidFill>
                <a:srgbClr val="075B50"/>
              </a:solidFill>
              <a:prstDash val="solid"/>
              <a:miter/>
            </a:ln>
          </p:spPr>
        </p:sp>
        <p:sp>
          <p:nvSpPr>
            <p:cNvPr name="TextBox 10" id="10"/>
            <p:cNvSpPr txBox="true"/>
            <p:nvPr/>
          </p:nvSpPr>
          <p:spPr>
            <a:xfrm>
              <a:off x="0" y="-38100"/>
              <a:ext cx="1192018" cy="859820"/>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435592" y="7066519"/>
            <a:ext cx="924109" cy="907136"/>
            <a:chOff x="0" y="0"/>
            <a:chExt cx="118507" cy="116331"/>
          </a:xfrm>
        </p:grpSpPr>
        <p:sp>
          <p:nvSpPr>
            <p:cNvPr name="Freeform 12" id="12"/>
            <p:cNvSpPr/>
            <p:nvPr/>
          </p:nvSpPr>
          <p:spPr>
            <a:xfrm flipH="false" flipV="false" rot="0">
              <a:off x="0" y="0"/>
              <a:ext cx="118507" cy="116331"/>
            </a:xfrm>
            <a:custGeom>
              <a:avLst/>
              <a:gdLst/>
              <a:ahLst/>
              <a:cxnLst/>
              <a:rect r="r" b="b" t="t" l="l"/>
              <a:pathLst>
                <a:path h="116331" w="118507">
                  <a:moveTo>
                    <a:pt x="58165" y="0"/>
                  </a:moveTo>
                  <a:lnTo>
                    <a:pt x="60342" y="0"/>
                  </a:lnTo>
                  <a:cubicBezTo>
                    <a:pt x="92466" y="0"/>
                    <a:pt x="118507" y="26041"/>
                    <a:pt x="118507" y="58165"/>
                  </a:cubicBezTo>
                  <a:lnTo>
                    <a:pt x="118507" y="58165"/>
                  </a:lnTo>
                  <a:cubicBezTo>
                    <a:pt x="118507" y="90289"/>
                    <a:pt x="92466" y="116331"/>
                    <a:pt x="60342" y="116331"/>
                  </a:cubicBezTo>
                  <a:lnTo>
                    <a:pt x="58165" y="116331"/>
                  </a:lnTo>
                  <a:cubicBezTo>
                    <a:pt x="26041" y="116331"/>
                    <a:pt x="0" y="90289"/>
                    <a:pt x="0" y="58165"/>
                  </a:cubicBezTo>
                  <a:lnTo>
                    <a:pt x="0" y="58165"/>
                  </a:lnTo>
                  <a:cubicBezTo>
                    <a:pt x="0" y="26041"/>
                    <a:pt x="26041" y="0"/>
                    <a:pt x="58165" y="0"/>
                  </a:cubicBezTo>
                  <a:close/>
                </a:path>
              </a:pathLst>
            </a:custGeom>
            <a:solidFill>
              <a:srgbClr val="075B50"/>
            </a:solidFill>
          </p:spPr>
        </p:sp>
        <p:sp>
          <p:nvSpPr>
            <p:cNvPr name="TextBox 13" id="13"/>
            <p:cNvSpPr txBox="true"/>
            <p:nvPr/>
          </p:nvSpPr>
          <p:spPr>
            <a:xfrm>
              <a:off x="0" y="-38100"/>
              <a:ext cx="118507" cy="154431"/>
            </a:xfrm>
            <a:prstGeom prst="rect">
              <a:avLst/>
            </a:prstGeom>
          </p:spPr>
          <p:txBody>
            <a:bodyPr anchor="ctr" rtlCol="false" tIns="50800" lIns="50800" bIns="50800" rIns="50800"/>
            <a:lstStyle/>
            <a:p>
              <a:pPr algn="ctr">
                <a:lnSpc>
                  <a:spcPts val="3499"/>
                </a:lnSpc>
              </a:pPr>
            </a:p>
          </p:txBody>
        </p:sp>
      </p:grpSp>
      <p:sp>
        <p:nvSpPr>
          <p:cNvPr name="Freeform 14" id="14"/>
          <p:cNvSpPr/>
          <p:nvPr/>
        </p:nvSpPr>
        <p:spPr>
          <a:xfrm flipH="false" flipV="false" rot="0">
            <a:off x="1661500" y="7222196"/>
            <a:ext cx="472293" cy="595782"/>
          </a:xfrm>
          <a:custGeom>
            <a:avLst/>
            <a:gdLst/>
            <a:ahLst/>
            <a:cxnLst/>
            <a:rect r="r" b="b" t="t" l="l"/>
            <a:pathLst>
              <a:path h="595782" w="472293">
                <a:moveTo>
                  <a:pt x="0" y="0"/>
                </a:moveTo>
                <a:lnTo>
                  <a:pt x="472293" y="0"/>
                </a:lnTo>
                <a:lnTo>
                  <a:pt x="472293" y="595782"/>
                </a:lnTo>
                <a:lnTo>
                  <a:pt x="0" y="595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450326" y="16746858"/>
            <a:ext cx="18610598" cy="6906384"/>
            <a:chOff x="0" y="0"/>
            <a:chExt cx="2386611" cy="885670"/>
          </a:xfrm>
        </p:grpSpPr>
        <p:sp>
          <p:nvSpPr>
            <p:cNvPr name="Freeform 16" id="16"/>
            <p:cNvSpPr/>
            <p:nvPr/>
          </p:nvSpPr>
          <p:spPr>
            <a:xfrm flipH="false" flipV="false" rot="0">
              <a:off x="0" y="0"/>
              <a:ext cx="2386611" cy="885670"/>
            </a:xfrm>
            <a:custGeom>
              <a:avLst/>
              <a:gdLst/>
              <a:ahLst/>
              <a:cxnLst/>
              <a:rect r="r" b="b" t="t" l="l"/>
              <a:pathLst>
                <a:path h="885670" w="2386611">
                  <a:moveTo>
                    <a:pt x="6656" y="0"/>
                  </a:moveTo>
                  <a:lnTo>
                    <a:pt x="2379955" y="0"/>
                  </a:lnTo>
                  <a:cubicBezTo>
                    <a:pt x="2383631" y="0"/>
                    <a:pt x="2386611" y="2980"/>
                    <a:pt x="2386611" y="6656"/>
                  </a:cubicBezTo>
                  <a:lnTo>
                    <a:pt x="2386611" y="879014"/>
                  </a:lnTo>
                  <a:cubicBezTo>
                    <a:pt x="2386611" y="882690"/>
                    <a:pt x="2383631" y="885670"/>
                    <a:pt x="2379955" y="885670"/>
                  </a:cubicBezTo>
                  <a:lnTo>
                    <a:pt x="6656" y="885670"/>
                  </a:lnTo>
                  <a:cubicBezTo>
                    <a:pt x="2980" y="885670"/>
                    <a:pt x="0" y="882690"/>
                    <a:pt x="0" y="879014"/>
                  </a:cubicBezTo>
                  <a:lnTo>
                    <a:pt x="0" y="6656"/>
                  </a:lnTo>
                  <a:cubicBezTo>
                    <a:pt x="0" y="2980"/>
                    <a:pt x="2980" y="0"/>
                    <a:pt x="6656" y="0"/>
                  </a:cubicBezTo>
                  <a:close/>
                </a:path>
              </a:pathLst>
            </a:custGeom>
            <a:ln w="28575" cap="sq">
              <a:solidFill>
                <a:srgbClr val="075B50"/>
              </a:solidFill>
              <a:prstDash val="solid"/>
              <a:miter/>
            </a:ln>
          </p:spPr>
        </p:sp>
        <p:sp>
          <p:nvSpPr>
            <p:cNvPr name="TextBox 17" id="17"/>
            <p:cNvSpPr txBox="true"/>
            <p:nvPr/>
          </p:nvSpPr>
          <p:spPr>
            <a:xfrm>
              <a:off x="0" y="-38100"/>
              <a:ext cx="2386611" cy="923770"/>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1465060" y="16384908"/>
            <a:ext cx="18595864" cy="907136"/>
            <a:chOff x="0" y="0"/>
            <a:chExt cx="2384722" cy="116331"/>
          </a:xfrm>
        </p:grpSpPr>
        <p:sp>
          <p:nvSpPr>
            <p:cNvPr name="Freeform 19" id="19"/>
            <p:cNvSpPr/>
            <p:nvPr/>
          </p:nvSpPr>
          <p:spPr>
            <a:xfrm flipH="false" flipV="false" rot="0">
              <a:off x="0" y="0"/>
              <a:ext cx="2384722" cy="116331"/>
            </a:xfrm>
            <a:custGeom>
              <a:avLst/>
              <a:gdLst/>
              <a:ahLst/>
              <a:cxnLst/>
              <a:rect r="r" b="b" t="t" l="l"/>
              <a:pathLst>
                <a:path h="116331" w="2384722">
                  <a:moveTo>
                    <a:pt x="6661" y="0"/>
                  </a:moveTo>
                  <a:lnTo>
                    <a:pt x="2378061" y="0"/>
                  </a:lnTo>
                  <a:cubicBezTo>
                    <a:pt x="2381740" y="0"/>
                    <a:pt x="2384722" y="2982"/>
                    <a:pt x="2384722" y="6661"/>
                  </a:cubicBezTo>
                  <a:lnTo>
                    <a:pt x="2384722" y="109669"/>
                  </a:lnTo>
                  <a:cubicBezTo>
                    <a:pt x="2384722" y="111436"/>
                    <a:pt x="2384020" y="113130"/>
                    <a:pt x="2382771" y="114380"/>
                  </a:cubicBezTo>
                  <a:cubicBezTo>
                    <a:pt x="2381522" y="115629"/>
                    <a:pt x="2379827" y="116331"/>
                    <a:pt x="2378061" y="116331"/>
                  </a:cubicBezTo>
                  <a:lnTo>
                    <a:pt x="6661" y="116331"/>
                  </a:lnTo>
                  <a:cubicBezTo>
                    <a:pt x="4895" y="116331"/>
                    <a:pt x="3200" y="115629"/>
                    <a:pt x="1951" y="114380"/>
                  </a:cubicBezTo>
                  <a:cubicBezTo>
                    <a:pt x="702" y="113130"/>
                    <a:pt x="0" y="111436"/>
                    <a:pt x="0" y="109669"/>
                  </a:cubicBezTo>
                  <a:lnTo>
                    <a:pt x="0" y="6661"/>
                  </a:lnTo>
                  <a:cubicBezTo>
                    <a:pt x="0" y="4895"/>
                    <a:pt x="702" y="3200"/>
                    <a:pt x="1951" y="1951"/>
                  </a:cubicBezTo>
                  <a:cubicBezTo>
                    <a:pt x="3200" y="702"/>
                    <a:pt x="4895" y="0"/>
                    <a:pt x="6661" y="0"/>
                  </a:cubicBezTo>
                  <a:close/>
                </a:path>
              </a:pathLst>
            </a:custGeom>
            <a:solidFill>
              <a:srgbClr val="075B50"/>
            </a:solidFill>
          </p:spPr>
        </p:sp>
        <p:sp>
          <p:nvSpPr>
            <p:cNvPr name="TextBox 20" id="20"/>
            <p:cNvSpPr txBox="true"/>
            <p:nvPr/>
          </p:nvSpPr>
          <p:spPr>
            <a:xfrm>
              <a:off x="0" y="-38100"/>
              <a:ext cx="2384722" cy="154431"/>
            </a:xfrm>
            <a:prstGeom prst="rect">
              <a:avLst/>
            </a:prstGeom>
          </p:spPr>
          <p:txBody>
            <a:bodyPr anchor="ctr" rtlCol="false" tIns="50800" lIns="50800" bIns="50800" rIns="50800"/>
            <a:lstStyle/>
            <a:p>
              <a:pPr algn="ctr">
                <a:lnSpc>
                  <a:spcPts val="3499"/>
                </a:lnSpc>
              </a:pPr>
            </a:p>
          </p:txBody>
        </p:sp>
      </p:grpSp>
      <p:grpSp>
        <p:nvGrpSpPr>
          <p:cNvPr name="Group 21" id="21"/>
          <p:cNvGrpSpPr/>
          <p:nvPr/>
        </p:nvGrpSpPr>
        <p:grpSpPr>
          <a:xfrm rot="0">
            <a:off x="8438069" y="17510659"/>
            <a:ext cx="11622855" cy="6136839"/>
            <a:chOff x="0" y="0"/>
            <a:chExt cx="1490508" cy="786984"/>
          </a:xfrm>
        </p:grpSpPr>
        <p:sp>
          <p:nvSpPr>
            <p:cNvPr name="Freeform 22" id="22"/>
            <p:cNvSpPr/>
            <p:nvPr/>
          </p:nvSpPr>
          <p:spPr>
            <a:xfrm flipH="false" flipV="false" rot="0">
              <a:off x="0" y="0"/>
              <a:ext cx="1490508" cy="786984"/>
            </a:xfrm>
            <a:custGeom>
              <a:avLst/>
              <a:gdLst/>
              <a:ahLst/>
              <a:cxnLst/>
              <a:rect r="r" b="b" t="t" l="l"/>
              <a:pathLst>
                <a:path h="786984" w="1490508">
                  <a:moveTo>
                    <a:pt x="10658" y="0"/>
                  </a:moveTo>
                  <a:lnTo>
                    <a:pt x="1479850" y="0"/>
                  </a:lnTo>
                  <a:cubicBezTo>
                    <a:pt x="1482677" y="0"/>
                    <a:pt x="1485387" y="1123"/>
                    <a:pt x="1487386" y="3122"/>
                  </a:cubicBezTo>
                  <a:cubicBezTo>
                    <a:pt x="1489385" y="5120"/>
                    <a:pt x="1490508" y="7831"/>
                    <a:pt x="1490508" y="10658"/>
                  </a:cubicBezTo>
                  <a:lnTo>
                    <a:pt x="1490508" y="776327"/>
                  </a:lnTo>
                  <a:cubicBezTo>
                    <a:pt x="1490508" y="779153"/>
                    <a:pt x="1489385" y="781864"/>
                    <a:pt x="1487386" y="783863"/>
                  </a:cubicBezTo>
                  <a:cubicBezTo>
                    <a:pt x="1485387" y="785861"/>
                    <a:pt x="1482677" y="786984"/>
                    <a:pt x="1479850" y="786984"/>
                  </a:cubicBezTo>
                  <a:lnTo>
                    <a:pt x="10658" y="786984"/>
                  </a:lnTo>
                  <a:cubicBezTo>
                    <a:pt x="4772" y="786984"/>
                    <a:pt x="0" y="782213"/>
                    <a:pt x="0" y="776327"/>
                  </a:cubicBezTo>
                  <a:lnTo>
                    <a:pt x="0" y="10658"/>
                  </a:lnTo>
                  <a:cubicBezTo>
                    <a:pt x="0" y="7831"/>
                    <a:pt x="1123" y="5120"/>
                    <a:pt x="3122" y="3122"/>
                  </a:cubicBezTo>
                  <a:cubicBezTo>
                    <a:pt x="5120" y="1123"/>
                    <a:pt x="7831" y="0"/>
                    <a:pt x="10658" y="0"/>
                  </a:cubicBezTo>
                  <a:close/>
                </a:path>
              </a:pathLst>
            </a:custGeom>
            <a:solidFill>
              <a:srgbClr val="FFFFFF"/>
            </a:solidFill>
            <a:ln w="28575" cap="sq">
              <a:solidFill>
                <a:srgbClr val="075B50"/>
              </a:solidFill>
              <a:prstDash val="solid"/>
              <a:miter/>
            </a:ln>
          </p:spPr>
        </p:sp>
        <p:sp>
          <p:nvSpPr>
            <p:cNvPr name="TextBox 23" id="23"/>
            <p:cNvSpPr txBox="true"/>
            <p:nvPr/>
          </p:nvSpPr>
          <p:spPr>
            <a:xfrm>
              <a:off x="0" y="-38100"/>
              <a:ext cx="1490508" cy="825084"/>
            </a:xfrm>
            <a:prstGeom prst="rect">
              <a:avLst/>
            </a:prstGeom>
          </p:spPr>
          <p:txBody>
            <a:bodyPr anchor="ctr" rtlCol="false" tIns="50800" lIns="50800" bIns="50800" rIns="50800"/>
            <a:lstStyle/>
            <a:p>
              <a:pPr algn="ctr">
                <a:lnSpc>
                  <a:spcPts val="3499"/>
                </a:lnSpc>
              </a:pPr>
            </a:p>
          </p:txBody>
        </p:sp>
      </p:grpSp>
      <p:pic>
        <p:nvPicPr>
          <p:cNvPr name="Picture 24" id="24"/>
          <p:cNvPicPr>
            <a:picLocks noChangeAspect="true"/>
          </p:cNvPicPr>
          <p:nvPr/>
        </p:nvPicPr>
        <p:blipFill>
          <a:blip r:embed="rId5"/>
          <a:stretch>
            <a:fillRect/>
          </a:stretch>
        </p:blipFill>
        <p:spPr>
          <a:xfrm rot="0">
            <a:off x="8843256" y="17897134"/>
            <a:ext cx="5121330" cy="3902968"/>
          </a:xfrm>
          <a:prstGeom prst="rect">
            <a:avLst/>
          </a:prstGeom>
        </p:spPr>
      </p:pic>
      <p:pic>
        <p:nvPicPr>
          <p:cNvPr name="Picture 25" id="25"/>
          <p:cNvPicPr>
            <a:picLocks noChangeAspect="true"/>
          </p:cNvPicPr>
          <p:nvPr/>
        </p:nvPicPr>
        <p:blipFill>
          <a:blip r:embed="rId6"/>
          <a:stretch>
            <a:fillRect/>
          </a:stretch>
        </p:blipFill>
        <p:spPr>
          <a:xfrm rot="0">
            <a:off x="14117049" y="17779628"/>
            <a:ext cx="5925614" cy="5435759"/>
          </a:xfrm>
          <a:prstGeom prst="rect">
            <a:avLst/>
          </a:prstGeom>
        </p:spPr>
      </p:pic>
      <p:grpSp>
        <p:nvGrpSpPr>
          <p:cNvPr name="Group 26" id="26"/>
          <p:cNvGrpSpPr/>
          <p:nvPr/>
        </p:nvGrpSpPr>
        <p:grpSpPr>
          <a:xfrm rot="0">
            <a:off x="8912673" y="21644560"/>
            <a:ext cx="310842" cy="303406"/>
            <a:chOff x="0" y="0"/>
            <a:chExt cx="47246" cy="46116"/>
          </a:xfrm>
        </p:grpSpPr>
        <p:sp>
          <p:nvSpPr>
            <p:cNvPr name="Freeform 27" id="27"/>
            <p:cNvSpPr/>
            <p:nvPr/>
          </p:nvSpPr>
          <p:spPr>
            <a:xfrm flipH="false" flipV="false" rot="0">
              <a:off x="0" y="0"/>
              <a:ext cx="47246" cy="46116"/>
            </a:xfrm>
            <a:custGeom>
              <a:avLst/>
              <a:gdLst/>
              <a:ahLst/>
              <a:cxnLst/>
              <a:rect r="r" b="b" t="t" l="l"/>
              <a:pathLst>
                <a:path h="46116" w="47246">
                  <a:moveTo>
                    <a:pt x="0" y="0"/>
                  </a:moveTo>
                  <a:lnTo>
                    <a:pt x="47246" y="0"/>
                  </a:lnTo>
                  <a:lnTo>
                    <a:pt x="47246" y="46116"/>
                  </a:lnTo>
                  <a:lnTo>
                    <a:pt x="0" y="46116"/>
                  </a:lnTo>
                  <a:close/>
                </a:path>
              </a:pathLst>
            </a:custGeom>
            <a:solidFill>
              <a:srgbClr val="075B50"/>
            </a:solidFill>
            <a:ln cap="sq">
              <a:noFill/>
              <a:prstDash val="solid"/>
              <a:miter/>
            </a:ln>
          </p:spPr>
        </p:sp>
        <p:sp>
          <p:nvSpPr>
            <p:cNvPr name="TextBox 28" id="28"/>
            <p:cNvSpPr txBox="true"/>
            <p:nvPr/>
          </p:nvSpPr>
          <p:spPr>
            <a:xfrm>
              <a:off x="0" y="-38100"/>
              <a:ext cx="47246" cy="84216"/>
            </a:xfrm>
            <a:prstGeom prst="rect">
              <a:avLst/>
            </a:prstGeom>
          </p:spPr>
          <p:txBody>
            <a:bodyPr anchor="ctr" rtlCol="false" tIns="50800" lIns="50800" bIns="50800" rIns="50800"/>
            <a:lstStyle/>
            <a:p>
              <a:pPr algn="ctr">
                <a:lnSpc>
                  <a:spcPts val="3499"/>
                </a:lnSpc>
              </a:pPr>
            </a:p>
          </p:txBody>
        </p:sp>
      </p:grpSp>
      <p:grpSp>
        <p:nvGrpSpPr>
          <p:cNvPr name="Group 29" id="29"/>
          <p:cNvGrpSpPr/>
          <p:nvPr/>
        </p:nvGrpSpPr>
        <p:grpSpPr>
          <a:xfrm rot="0">
            <a:off x="8912673" y="22058745"/>
            <a:ext cx="310842" cy="303406"/>
            <a:chOff x="0" y="0"/>
            <a:chExt cx="47246" cy="46116"/>
          </a:xfrm>
        </p:grpSpPr>
        <p:sp>
          <p:nvSpPr>
            <p:cNvPr name="Freeform 30" id="30"/>
            <p:cNvSpPr/>
            <p:nvPr/>
          </p:nvSpPr>
          <p:spPr>
            <a:xfrm flipH="false" flipV="false" rot="0">
              <a:off x="0" y="0"/>
              <a:ext cx="47246" cy="46116"/>
            </a:xfrm>
            <a:custGeom>
              <a:avLst/>
              <a:gdLst/>
              <a:ahLst/>
              <a:cxnLst/>
              <a:rect r="r" b="b" t="t" l="l"/>
              <a:pathLst>
                <a:path h="46116" w="47246">
                  <a:moveTo>
                    <a:pt x="0" y="0"/>
                  </a:moveTo>
                  <a:lnTo>
                    <a:pt x="47246" y="0"/>
                  </a:lnTo>
                  <a:lnTo>
                    <a:pt x="47246" y="46116"/>
                  </a:lnTo>
                  <a:lnTo>
                    <a:pt x="0" y="46116"/>
                  </a:lnTo>
                  <a:close/>
                </a:path>
              </a:pathLst>
            </a:custGeom>
            <a:solidFill>
              <a:srgbClr val="218477"/>
            </a:solidFill>
            <a:ln cap="sq">
              <a:noFill/>
              <a:prstDash val="solid"/>
              <a:miter/>
            </a:ln>
          </p:spPr>
        </p:sp>
        <p:sp>
          <p:nvSpPr>
            <p:cNvPr name="TextBox 31" id="31"/>
            <p:cNvSpPr txBox="true"/>
            <p:nvPr/>
          </p:nvSpPr>
          <p:spPr>
            <a:xfrm>
              <a:off x="0" y="-38100"/>
              <a:ext cx="47246" cy="84216"/>
            </a:xfrm>
            <a:prstGeom prst="rect">
              <a:avLst/>
            </a:prstGeom>
          </p:spPr>
          <p:txBody>
            <a:bodyPr anchor="ctr" rtlCol="false" tIns="50800" lIns="50800" bIns="50800" rIns="50800"/>
            <a:lstStyle/>
            <a:p>
              <a:pPr algn="ctr">
                <a:lnSpc>
                  <a:spcPts val="3499"/>
                </a:lnSpc>
              </a:pPr>
            </a:p>
          </p:txBody>
        </p:sp>
      </p:grpSp>
      <p:grpSp>
        <p:nvGrpSpPr>
          <p:cNvPr name="Group 32" id="32"/>
          <p:cNvGrpSpPr/>
          <p:nvPr/>
        </p:nvGrpSpPr>
        <p:grpSpPr>
          <a:xfrm rot="0">
            <a:off x="8912673" y="22447112"/>
            <a:ext cx="310842" cy="303406"/>
            <a:chOff x="0" y="0"/>
            <a:chExt cx="47246" cy="46116"/>
          </a:xfrm>
        </p:grpSpPr>
        <p:sp>
          <p:nvSpPr>
            <p:cNvPr name="Freeform 33" id="33"/>
            <p:cNvSpPr/>
            <p:nvPr/>
          </p:nvSpPr>
          <p:spPr>
            <a:xfrm flipH="false" flipV="false" rot="0">
              <a:off x="0" y="0"/>
              <a:ext cx="47246" cy="46116"/>
            </a:xfrm>
            <a:custGeom>
              <a:avLst/>
              <a:gdLst/>
              <a:ahLst/>
              <a:cxnLst/>
              <a:rect r="r" b="b" t="t" l="l"/>
              <a:pathLst>
                <a:path h="46116" w="47246">
                  <a:moveTo>
                    <a:pt x="0" y="0"/>
                  </a:moveTo>
                  <a:lnTo>
                    <a:pt x="47246" y="0"/>
                  </a:lnTo>
                  <a:lnTo>
                    <a:pt x="47246" y="46116"/>
                  </a:lnTo>
                  <a:lnTo>
                    <a:pt x="0" y="46116"/>
                  </a:lnTo>
                  <a:close/>
                </a:path>
              </a:pathLst>
            </a:custGeom>
            <a:solidFill>
              <a:srgbClr val="A8C98A"/>
            </a:solidFill>
            <a:ln cap="sq">
              <a:noFill/>
              <a:prstDash val="solid"/>
              <a:miter/>
            </a:ln>
          </p:spPr>
        </p:sp>
        <p:sp>
          <p:nvSpPr>
            <p:cNvPr name="TextBox 34" id="34"/>
            <p:cNvSpPr txBox="true"/>
            <p:nvPr/>
          </p:nvSpPr>
          <p:spPr>
            <a:xfrm>
              <a:off x="0" y="-38100"/>
              <a:ext cx="47246" cy="84216"/>
            </a:xfrm>
            <a:prstGeom prst="rect">
              <a:avLst/>
            </a:prstGeom>
          </p:spPr>
          <p:txBody>
            <a:bodyPr anchor="ctr" rtlCol="false" tIns="50800" lIns="50800" bIns="50800" rIns="50800"/>
            <a:lstStyle/>
            <a:p>
              <a:pPr algn="ctr">
                <a:lnSpc>
                  <a:spcPts val="3499"/>
                </a:lnSpc>
              </a:pPr>
            </a:p>
          </p:txBody>
        </p:sp>
      </p:grpSp>
      <p:grpSp>
        <p:nvGrpSpPr>
          <p:cNvPr name="Group 35" id="35"/>
          <p:cNvGrpSpPr/>
          <p:nvPr/>
        </p:nvGrpSpPr>
        <p:grpSpPr>
          <a:xfrm rot="0">
            <a:off x="1470411" y="26059240"/>
            <a:ext cx="18590513" cy="3796719"/>
            <a:chOff x="0" y="0"/>
            <a:chExt cx="2384036" cy="486889"/>
          </a:xfrm>
        </p:grpSpPr>
        <p:sp>
          <p:nvSpPr>
            <p:cNvPr name="Freeform 36" id="36"/>
            <p:cNvSpPr/>
            <p:nvPr/>
          </p:nvSpPr>
          <p:spPr>
            <a:xfrm flipH="false" flipV="false" rot="0">
              <a:off x="0" y="0"/>
              <a:ext cx="2384036" cy="486889"/>
            </a:xfrm>
            <a:custGeom>
              <a:avLst/>
              <a:gdLst/>
              <a:ahLst/>
              <a:cxnLst/>
              <a:rect r="r" b="b" t="t" l="l"/>
              <a:pathLst>
                <a:path h="486889" w="2384036">
                  <a:moveTo>
                    <a:pt x="6663" y="0"/>
                  </a:moveTo>
                  <a:lnTo>
                    <a:pt x="2377373" y="0"/>
                  </a:lnTo>
                  <a:cubicBezTo>
                    <a:pt x="2381053" y="0"/>
                    <a:pt x="2384036" y="2983"/>
                    <a:pt x="2384036" y="6663"/>
                  </a:cubicBezTo>
                  <a:lnTo>
                    <a:pt x="2384036" y="480226"/>
                  </a:lnTo>
                  <a:cubicBezTo>
                    <a:pt x="2384036" y="481993"/>
                    <a:pt x="2383334" y="483688"/>
                    <a:pt x="2382084" y="484937"/>
                  </a:cubicBezTo>
                  <a:cubicBezTo>
                    <a:pt x="2380835" y="486187"/>
                    <a:pt x="2379140" y="486889"/>
                    <a:pt x="2377373" y="486889"/>
                  </a:cubicBezTo>
                  <a:lnTo>
                    <a:pt x="6663" y="486889"/>
                  </a:lnTo>
                  <a:cubicBezTo>
                    <a:pt x="2983" y="486889"/>
                    <a:pt x="0" y="483906"/>
                    <a:pt x="0" y="480226"/>
                  </a:cubicBezTo>
                  <a:lnTo>
                    <a:pt x="0" y="6663"/>
                  </a:lnTo>
                  <a:cubicBezTo>
                    <a:pt x="0" y="2983"/>
                    <a:pt x="2983" y="0"/>
                    <a:pt x="6663" y="0"/>
                  </a:cubicBezTo>
                  <a:close/>
                </a:path>
              </a:pathLst>
            </a:custGeom>
            <a:ln w="28575" cap="sq">
              <a:solidFill>
                <a:srgbClr val="075B50"/>
              </a:solidFill>
              <a:prstDash val="solid"/>
              <a:miter/>
            </a:ln>
          </p:spPr>
        </p:sp>
        <p:sp>
          <p:nvSpPr>
            <p:cNvPr name="TextBox 37" id="37"/>
            <p:cNvSpPr txBox="true"/>
            <p:nvPr/>
          </p:nvSpPr>
          <p:spPr>
            <a:xfrm>
              <a:off x="0" y="-38100"/>
              <a:ext cx="2384036" cy="524989"/>
            </a:xfrm>
            <a:prstGeom prst="rect">
              <a:avLst/>
            </a:prstGeom>
          </p:spPr>
          <p:txBody>
            <a:bodyPr anchor="ctr" rtlCol="false" tIns="50800" lIns="50800" bIns="50800" rIns="50800"/>
            <a:lstStyle/>
            <a:p>
              <a:pPr algn="ctr">
                <a:lnSpc>
                  <a:spcPts val="3499"/>
                </a:lnSpc>
              </a:pPr>
            </a:p>
          </p:txBody>
        </p:sp>
      </p:grpSp>
      <p:sp>
        <p:nvSpPr>
          <p:cNvPr name="AutoShape 38" id="38"/>
          <p:cNvSpPr/>
          <p:nvPr/>
        </p:nvSpPr>
        <p:spPr>
          <a:xfrm flipV="true">
            <a:off x="1699471" y="7953691"/>
            <a:ext cx="8717679" cy="0"/>
          </a:xfrm>
          <a:prstGeom prst="line">
            <a:avLst/>
          </a:prstGeom>
          <a:ln cap="flat" w="38100">
            <a:solidFill>
              <a:srgbClr val="075B50"/>
            </a:solidFill>
            <a:prstDash val="solid"/>
            <a:headEnd type="none" len="sm" w="sm"/>
            <a:tailEnd type="none" len="sm" w="sm"/>
          </a:ln>
        </p:spPr>
      </p:sp>
      <p:grpSp>
        <p:nvGrpSpPr>
          <p:cNvPr name="Group 39" id="39"/>
          <p:cNvGrpSpPr/>
          <p:nvPr/>
        </p:nvGrpSpPr>
        <p:grpSpPr>
          <a:xfrm rot="0">
            <a:off x="10997408" y="7066519"/>
            <a:ext cx="924109" cy="907136"/>
            <a:chOff x="0" y="0"/>
            <a:chExt cx="118507" cy="116331"/>
          </a:xfrm>
        </p:grpSpPr>
        <p:sp>
          <p:nvSpPr>
            <p:cNvPr name="Freeform 40" id="40"/>
            <p:cNvSpPr/>
            <p:nvPr/>
          </p:nvSpPr>
          <p:spPr>
            <a:xfrm flipH="false" flipV="false" rot="0">
              <a:off x="0" y="0"/>
              <a:ext cx="118507" cy="116331"/>
            </a:xfrm>
            <a:custGeom>
              <a:avLst/>
              <a:gdLst/>
              <a:ahLst/>
              <a:cxnLst/>
              <a:rect r="r" b="b" t="t" l="l"/>
              <a:pathLst>
                <a:path h="116331" w="118507">
                  <a:moveTo>
                    <a:pt x="58165" y="0"/>
                  </a:moveTo>
                  <a:lnTo>
                    <a:pt x="60342" y="0"/>
                  </a:lnTo>
                  <a:cubicBezTo>
                    <a:pt x="92466" y="0"/>
                    <a:pt x="118507" y="26041"/>
                    <a:pt x="118507" y="58165"/>
                  </a:cubicBezTo>
                  <a:lnTo>
                    <a:pt x="118507" y="58165"/>
                  </a:lnTo>
                  <a:cubicBezTo>
                    <a:pt x="118507" y="90289"/>
                    <a:pt x="92466" y="116331"/>
                    <a:pt x="60342" y="116331"/>
                  </a:cubicBezTo>
                  <a:lnTo>
                    <a:pt x="58165" y="116331"/>
                  </a:lnTo>
                  <a:cubicBezTo>
                    <a:pt x="26041" y="116331"/>
                    <a:pt x="0" y="90289"/>
                    <a:pt x="0" y="58165"/>
                  </a:cubicBezTo>
                  <a:lnTo>
                    <a:pt x="0" y="58165"/>
                  </a:lnTo>
                  <a:cubicBezTo>
                    <a:pt x="0" y="26041"/>
                    <a:pt x="26041" y="0"/>
                    <a:pt x="58165" y="0"/>
                  </a:cubicBezTo>
                  <a:close/>
                </a:path>
              </a:pathLst>
            </a:custGeom>
            <a:solidFill>
              <a:srgbClr val="075B50"/>
            </a:solidFill>
          </p:spPr>
        </p:sp>
        <p:sp>
          <p:nvSpPr>
            <p:cNvPr name="TextBox 41" id="41"/>
            <p:cNvSpPr txBox="true"/>
            <p:nvPr/>
          </p:nvSpPr>
          <p:spPr>
            <a:xfrm>
              <a:off x="0" y="-38100"/>
              <a:ext cx="118507" cy="154431"/>
            </a:xfrm>
            <a:prstGeom prst="rect">
              <a:avLst/>
            </a:prstGeom>
          </p:spPr>
          <p:txBody>
            <a:bodyPr anchor="ctr" rtlCol="false" tIns="50800" lIns="50800" bIns="50800" rIns="50800"/>
            <a:lstStyle/>
            <a:p>
              <a:pPr algn="ctr">
                <a:lnSpc>
                  <a:spcPts val="3499"/>
                </a:lnSpc>
              </a:pPr>
            </a:p>
          </p:txBody>
        </p:sp>
      </p:grpSp>
      <p:sp>
        <p:nvSpPr>
          <p:cNvPr name="Freeform 42" id="42"/>
          <p:cNvSpPr/>
          <p:nvPr/>
        </p:nvSpPr>
        <p:spPr>
          <a:xfrm flipH="false" flipV="false" rot="0">
            <a:off x="11228730" y="7222196"/>
            <a:ext cx="461464" cy="532086"/>
          </a:xfrm>
          <a:custGeom>
            <a:avLst/>
            <a:gdLst/>
            <a:ahLst/>
            <a:cxnLst/>
            <a:rect r="r" b="b" t="t" l="l"/>
            <a:pathLst>
              <a:path h="532086" w="461464">
                <a:moveTo>
                  <a:pt x="0" y="0"/>
                </a:moveTo>
                <a:lnTo>
                  <a:pt x="461464" y="0"/>
                </a:lnTo>
                <a:lnTo>
                  <a:pt x="461464" y="532086"/>
                </a:lnTo>
                <a:lnTo>
                  <a:pt x="0" y="5320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43" id="43"/>
          <p:cNvSpPr/>
          <p:nvPr/>
        </p:nvSpPr>
        <p:spPr>
          <a:xfrm flipV="true">
            <a:off x="11261286" y="7953691"/>
            <a:ext cx="8717679" cy="0"/>
          </a:xfrm>
          <a:prstGeom prst="line">
            <a:avLst/>
          </a:prstGeom>
          <a:ln cap="flat" w="38100">
            <a:solidFill>
              <a:srgbClr val="075B50"/>
            </a:solidFill>
            <a:prstDash val="solid"/>
            <a:headEnd type="none" len="sm" w="sm"/>
            <a:tailEnd type="none" len="sm" w="sm"/>
          </a:ln>
        </p:spPr>
      </p:sp>
      <p:sp>
        <p:nvSpPr>
          <p:cNvPr name="Freeform 44" id="44"/>
          <p:cNvSpPr/>
          <p:nvPr/>
        </p:nvSpPr>
        <p:spPr>
          <a:xfrm flipH="false" flipV="false" rot="0">
            <a:off x="1728939" y="16495331"/>
            <a:ext cx="495106" cy="630708"/>
          </a:xfrm>
          <a:custGeom>
            <a:avLst/>
            <a:gdLst/>
            <a:ahLst/>
            <a:cxnLst/>
            <a:rect r="r" b="b" t="t" l="l"/>
            <a:pathLst>
              <a:path h="630708" w="495106">
                <a:moveTo>
                  <a:pt x="0" y="0"/>
                </a:moveTo>
                <a:lnTo>
                  <a:pt x="495106" y="0"/>
                </a:lnTo>
                <a:lnTo>
                  <a:pt x="495106" y="630708"/>
                </a:lnTo>
                <a:lnTo>
                  <a:pt x="0" y="63070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45" id="45"/>
          <p:cNvSpPr/>
          <p:nvPr/>
        </p:nvSpPr>
        <p:spPr>
          <a:xfrm>
            <a:off x="1728939" y="17272080"/>
            <a:ext cx="6709130" cy="0"/>
          </a:xfrm>
          <a:prstGeom prst="line">
            <a:avLst/>
          </a:prstGeom>
          <a:ln cap="flat" w="38100">
            <a:solidFill>
              <a:srgbClr val="075B50"/>
            </a:solidFill>
            <a:prstDash val="solid"/>
            <a:headEnd type="none" len="sm" w="sm"/>
            <a:tailEnd type="none" len="sm" w="sm"/>
          </a:ln>
        </p:spPr>
      </p:sp>
      <p:grpSp>
        <p:nvGrpSpPr>
          <p:cNvPr name="Group 46" id="46"/>
          <p:cNvGrpSpPr/>
          <p:nvPr/>
        </p:nvGrpSpPr>
        <p:grpSpPr>
          <a:xfrm rot="0">
            <a:off x="1465060" y="26081911"/>
            <a:ext cx="924109" cy="907136"/>
            <a:chOff x="0" y="0"/>
            <a:chExt cx="118507" cy="116331"/>
          </a:xfrm>
        </p:grpSpPr>
        <p:sp>
          <p:nvSpPr>
            <p:cNvPr name="Freeform 47" id="47"/>
            <p:cNvSpPr/>
            <p:nvPr/>
          </p:nvSpPr>
          <p:spPr>
            <a:xfrm flipH="false" flipV="false" rot="0">
              <a:off x="0" y="0"/>
              <a:ext cx="118507" cy="116331"/>
            </a:xfrm>
            <a:custGeom>
              <a:avLst/>
              <a:gdLst/>
              <a:ahLst/>
              <a:cxnLst/>
              <a:rect r="r" b="b" t="t" l="l"/>
              <a:pathLst>
                <a:path h="116331" w="118507">
                  <a:moveTo>
                    <a:pt x="58165" y="0"/>
                  </a:moveTo>
                  <a:lnTo>
                    <a:pt x="60342" y="0"/>
                  </a:lnTo>
                  <a:cubicBezTo>
                    <a:pt x="92466" y="0"/>
                    <a:pt x="118507" y="26041"/>
                    <a:pt x="118507" y="58165"/>
                  </a:cubicBezTo>
                  <a:lnTo>
                    <a:pt x="118507" y="58165"/>
                  </a:lnTo>
                  <a:cubicBezTo>
                    <a:pt x="118507" y="90289"/>
                    <a:pt x="92466" y="116331"/>
                    <a:pt x="60342" y="116331"/>
                  </a:cubicBezTo>
                  <a:lnTo>
                    <a:pt x="58165" y="116331"/>
                  </a:lnTo>
                  <a:cubicBezTo>
                    <a:pt x="26041" y="116331"/>
                    <a:pt x="0" y="90289"/>
                    <a:pt x="0" y="58165"/>
                  </a:cubicBezTo>
                  <a:lnTo>
                    <a:pt x="0" y="58165"/>
                  </a:lnTo>
                  <a:cubicBezTo>
                    <a:pt x="0" y="26041"/>
                    <a:pt x="26041" y="0"/>
                    <a:pt x="58165" y="0"/>
                  </a:cubicBezTo>
                  <a:close/>
                </a:path>
              </a:pathLst>
            </a:custGeom>
            <a:solidFill>
              <a:srgbClr val="075B50"/>
            </a:solidFill>
          </p:spPr>
        </p:sp>
        <p:sp>
          <p:nvSpPr>
            <p:cNvPr name="TextBox 48" id="48"/>
            <p:cNvSpPr txBox="true"/>
            <p:nvPr/>
          </p:nvSpPr>
          <p:spPr>
            <a:xfrm>
              <a:off x="0" y="-38100"/>
              <a:ext cx="118507" cy="154431"/>
            </a:xfrm>
            <a:prstGeom prst="rect">
              <a:avLst/>
            </a:prstGeom>
          </p:spPr>
          <p:txBody>
            <a:bodyPr anchor="ctr" rtlCol="false" tIns="50800" lIns="50800" bIns="50800" rIns="50800"/>
            <a:lstStyle/>
            <a:p>
              <a:pPr algn="ctr">
                <a:lnSpc>
                  <a:spcPts val="3499"/>
                </a:lnSpc>
              </a:pPr>
            </a:p>
          </p:txBody>
        </p:sp>
      </p:grpSp>
      <p:sp>
        <p:nvSpPr>
          <p:cNvPr name="Freeform 49" id="49"/>
          <p:cNvSpPr/>
          <p:nvPr/>
        </p:nvSpPr>
        <p:spPr>
          <a:xfrm flipH="false" flipV="false" rot="0">
            <a:off x="1614422" y="26218952"/>
            <a:ext cx="625385" cy="609750"/>
          </a:xfrm>
          <a:custGeom>
            <a:avLst/>
            <a:gdLst/>
            <a:ahLst/>
            <a:cxnLst/>
            <a:rect r="r" b="b" t="t" l="l"/>
            <a:pathLst>
              <a:path h="609750" w="625385">
                <a:moveTo>
                  <a:pt x="0" y="0"/>
                </a:moveTo>
                <a:lnTo>
                  <a:pt x="625385" y="0"/>
                </a:lnTo>
                <a:lnTo>
                  <a:pt x="625385" y="609750"/>
                </a:lnTo>
                <a:lnTo>
                  <a:pt x="0" y="6097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50" id="50"/>
          <p:cNvSpPr/>
          <p:nvPr/>
        </p:nvSpPr>
        <p:spPr>
          <a:xfrm flipV="true">
            <a:off x="1728939" y="26969083"/>
            <a:ext cx="18331985" cy="0"/>
          </a:xfrm>
          <a:prstGeom prst="line">
            <a:avLst/>
          </a:prstGeom>
          <a:ln cap="flat" w="38100">
            <a:solidFill>
              <a:srgbClr val="075B50"/>
            </a:solidFill>
            <a:prstDash val="solid"/>
            <a:headEnd type="none" len="sm" w="sm"/>
            <a:tailEnd type="none" len="sm" w="sm"/>
          </a:ln>
        </p:spPr>
      </p:sp>
      <p:sp>
        <p:nvSpPr>
          <p:cNvPr name="Freeform 51" id="51"/>
          <p:cNvSpPr/>
          <p:nvPr/>
        </p:nvSpPr>
        <p:spPr>
          <a:xfrm flipH="false" flipV="false" rot="0">
            <a:off x="15695435" y="910606"/>
            <a:ext cx="4365489" cy="2455588"/>
          </a:xfrm>
          <a:custGeom>
            <a:avLst/>
            <a:gdLst/>
            <a:ahLst/>
            <a:cxnLst/>
            <a:rect r="r" b="b" t="t" l="l"/>
            <a:pathLst>
              <a:path h="2455588" w="4365489">
                <a:moveTo>
                  <a:pt x="0" y="0"/>
                </a:moveTo>
                <a:lnTo>
                  <a:pt x="4365489" y="0"/>
                </a:lnTo>
                <a:lnTo>
                  <a:pt x="4365489" y="2455588"/>
                </a:lnTo>
                <a:lnTo>
                  <a:pt x="0" y="2455588"/>
                </a:lnTo>
                <a:lnTo>
                  <a:pt x="0" y="0"/>
                </a:lnTo>
                <a:close/>
              </a:path>
            </a:pathLst>
          </a:custGeom>
          <a:blipFill>
            <a:blip r:embed="rId13"/>
            <a:stretch>
              <a:fillRect l="0" t="0" r="0" b="0"/>
            </a:stretch>
          </a:blipFill>
        </p:spPr>
      </p:sp>
      <p:sp>
        <p:nvSpPr>
          <p:cNvPr name="Freeform 52" id="52"/>
          <p:cNvSpPr/>
          <p:nvPr/>
        </p:nvSpPr>
        <p:spPr>
          <a:xfrm flipH="false" flipV="false" rot="0">
            <a:off x="1420858" y="1068847"/>
            <a:ext cx="7594922" cy="1952570"/>
          </a:xfrm>
          <a:custGeom>
            <a:avLst/>
            <a:gdLst/>
            <a:ahLst/>
            <a:cxnLst/>
            <a:rect r="r" b="b" t="t" l="l"/>
            <a:pathLst>
              <a:path h="1952570" w="7594922">
                <a:moveTo>
                  <a:pt x="0" y="0"/>
                </a:moveTo>
                <a:lnTo>
                  <a:pt x="7594923" y="0"/>
                </a:lnTo>
                <a:lnTo>
                  <a:pt x="7594923" y="1952570"/>
                </a:lnTo>
                <a:lnTo>
                  <a:pt x="0" y="1952570"/>
                </a:lnTo>
                <a:lnTo>
                  <a:pt x="0" y="0"/>
                </a:lnTo>
                <a:close/>
              </a:path>
            </a:pathLst>
          </a:custGeom>
          <a:blipFill>
            <a:blip r:embed="rId14"/>
            <a:stretch>
              <a:fillRect l="0" t="0" r="0" b="0"/>
            </a:stretch>
          </a:blipFill>
        </p:spPr>
      </p:sp>
      <p:grpSp>
        <p:nvGrpSpPr>
          <p:cNvPr name="Group 53" id="53"/>
          <p:cNvGrpSpPr/>
          <p:nvPr/>
        </p:nvGrpSpPr>
        <p:grpSpPr>
          <a:xfrm rot="0">
            <a:off x="1420858" y="5080098"/>
            <a:ext cx="18640066" cy="1782776"/>
            <a:chOff x="0" y="0"/>
            <a:chExt cx="3792855" cy="362757"/>
          </a:xfrm>
        </p:grpSpPr>
        <p:sp>
          <p:nvSpPr>
            <p:cNvPr name="Freeform 54" id="54"/>
            <p:cNvSpPr/>
            <p:nvPr/>
          </p:nvSpPr>
          <p:spPr>
            <a:xfrm flipH="false" flipV="false" rot="0">
              <a:off x="0" y="0"/>
              <a:ext cx="3792855" cy="362757"/>
            </a:xfrm>
            <a:custGeom>
              <a:avLst/>
              <a:gdLst/>
              <a:ahLst/>
              <a:cxnLst/>
              <a:rect r="r" b="b" t="t" l="l"/>
              <a:pathLst>
                <a:path h="362757" w="3792855">
                  <a:moveTo>
                    <a:pt x="6645" y="0"/>
                  </a:moveTo>
                  <a:lnTo>
                    <a:pt x="3786210" y="0"/>
                  </a:lnTo>
                  <a:cubicBezTo>
                    <a:pt x="3789880" y="0"/>
                    <a:pt x="3792855" y="2975"/>
                    <a:pt x="3792855" y="6645"/>
                  </a:cubicBezTo>
                  <a:lnTo>
                    <a:pt x="3792855" y="356111"/>
                  </a:lnTo>
                  <a:cubicBezTo>
                    <a:pt x="3792855" y="357874"/>
                    <a:pt x="3792155" y="359564"/>
                    <a:pt x="3790909" y="360810"/>
                  </a:cubicBezTo>
                  <a:cubicBezTo>
                    <a:pt x="3789662" y="362057"/>
                    <a:pt x="3787972" y="362757"/>
                    <a:pt x="3786210" y="362757"/>
                  </a:cubicBezTo>
                  <a:lnTo>
                    <a:pt x="6645" y="362757"/>
                  </a:lnTo>
                  <a:cubicBezTo>
                    <a:pt x="2975" y="362757"/>
                    <a:pt x="0" y="359782"/>
                    <a:pt x="0" y="356111"/>
                  </a:cubicBezTo>
                  <a:lnTo>
                    <a:pt x="0" y="6645"/>
                  </a:lnTo>
                  <a:cubicBezTo>
                    <a:pt x="0" y="2975"/>
                    <a:pt x="2975" y="0"/>
                    <a:pt x="6645" y="0"/>
                  </a:cubicBezTo>
                  <a:close/>
                </a:path>
              </a:pathLst>
            </a:custGeom>
            <a:ln w="57150" cap="sq">
              <a:solidFill>
                <a:srgbClr val="075B50"/>
              </a:solidFill>
              <a:prstDash val="solid"/>
              <a:miter/>
            </a:ln>
          </p:spPr>
        </p:sp>
        <p:sp>
          <p:nvSpPr>
            <p:cNvPr name="TextBox 55" id="55"/>
            <p:cNvSpPr txBox="true"/>
            <p:nvPr/>
          </p:nvSpPr>
          <p:spPr>
            <a:xfrm>
              <a:off x="0" y="-38100"/>
              <a:ext cx="3792855" cy="400857"/>
            </a:xfrm>
            <a:prstGeom prst="rect">
              <a:avLst/>
            </a:prstGeom>
          </p:spPr>
          <p:txBody>
            <a:bodyPr anchor="ctr" rtlCol="false" tIns="32016" lIns="32016" bIns="32016" rIns="32016"/>
            <a:lstStyle/>
            <a:p>
              <a:pPr algn="ctr">
                <a:lnSpc>
                  <a:spcPts val="3499"/>
                </a:lnSpc>
              </a:pPr>
            </a:p>
          </p:txBody>
        </p:sp>
      </p:grpSp>
      <p:sp>
        <p:nvSpPr>
          <p:cNvPr name="Freeform 56" id="56"/>
          <p:cNvSpPr/>
          <p:nvPr/>
        </p:nvSpPr>
        <p:spPr>
          <a:xfrm flipH="true" flipV="false" rot="0">
            <a:off x="1728939" y="5485177"/>
            <a:ext cx="1151025" cy="972616"/>
          </a:xfrm>
          <a:custGeom>
            <a:avLst/>
            <a:gdLst/>
            <a:ahLst/>
            <a:cxnLst/>
            <a:rect r="r" b="b" t="t" l="l"/>
            <a:pathLst>
              <a:path h="972616" w="1151025">
                <a:moveTo>
                  <a:pt x="1151025" y="0"/>
                </a:moveTo>
                <a:lnTo>
                  <a:pt x="0" y="0"/>
                </a:lnTo>
                <a:lnTo>
                  <a:pt x="0" y="972617"/>
                </a:lnTo>
                <a:lnTo>
                  <a:pt x="1151025" y="972617"/>
                </a:lnTo>
                <a:lnTo>
                  <a:pt x="1151025"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7" id="57"/>
          <p:cNvSpPr/>
          <p:nvPr/>
        </p:nvSpPr>
        <p:spPr>
          <a:xfrm flipH="false" flipV="false" rot="0">
            <a:off x="8832594" y="1150084"/>
            <a:ext cx="6595815" cy="1790096"/>
          </a:xfrm>
          <a:custGeom>
            <a:avLst/>
            <a:gdLst/>
            <a:ahLst/>
            <a:cxnLst/>
            <a:rect r="r" b="b" t="t" l="l"/>
            <a:pathLst>
              <a:path h="1790096" w="6595815">
                <a:moveTo>
                  <a:pt x="0" y="0"/>
                </a:moveTo>
                <a:lnTo>
                  <a:pt x="6595816" y="0"/>
                </a:lnTo>
                <a:lnTo>
                  <a:pt x="6595816" y="1790096"/>
                </a:lnTo>
                <a:lnTo>
                  <a:pt x="0" y="1790096"/>
                </a:lnTo>
                <a:lnTo>
                  <a:pt x="0" y="0"/>
                </a:lnTo>
                <a:close/>
              </a:path>
            </a:pathLst>
          </a:custGeom>
          <a:blipFill>
            <a:blip r:embed="rId17"/>
            <a:stretch>
              <a:fillRect l="0" t="0" r="0" b="0"/>
            </a:stretch>
          </a:blipFill>
        </p:spPr>
      </p:sp>
      <p:sp>
        <p:nvSpPr>
          <p:cNvPr name="TextBox 58" id="58"/>
          <p:cNvSpPr txBox="true"/>
          <p:nvPr/>
        </p:nvSpPr>
        <p:spPr>
          <a:xfrm rot="0">
            <a:off x="1435592" y="3395619"/>
            <a:ext cx="4134428" cy="1425204"/>
          </a:xfrm>
          <a:prstGeom prst="rect">
            <a:avLst/>
          </a:prstGeom>
        </p:spPr>
        <p:txBody>
          <a:bodyPr anchor="t" rtlCol="false" tIns="0" lIns="0" bIns="0" rIns="0">
            <a:spAutoFit/>
          </a:bodyPr>
          <a:lstStyle/>
          <a:p>
            <a:pPr algn="ctr">
              <a:lnSpc>
                <a:spcPts val="10829"/>
              </a:lnSpc>
            </a:pPr>
            <a:r>
              <a:rPr lang="en-US" sz="10313">
                <a:solidFill>
                  <a:srgbClr val="075B50"/>
                </a:solidFill>
                <a:latin typeface="Anton"/>
                <a:ea typeface="Anton"/>
                <a:cs typeface="Anton"/>
                <a:sym typeface="Anton"/>
              </a:rPr>
              <a:t>GIKNGO</a:t>
            </a:r>
          </a:p>
        </p:txBody>
      </p:sp>
      <p:sp>
        <p:nvSpPr>
          <p:cNvPr name="TextBox 59" id="59"/>
          <p:cNvSpPr txBox="true"/>
          <p:nvPr/>
        </p:nvSpPr>
        <p:spPr>
          <a:xfrm rot="0">
            <a:off x="1811927" y="8222762"/>
            <a:ext cx="8316245" cy="7710216"/>
          </a:xfrm>
          <a:prstGeom prst="rect">
            <a:avLst/>
          </a:prstGeom>
        </p:spPr>
        <p:txBody>
          <a:bodyPr anchor="t" rtlCol="false" tIns="0" lIns="0" bIns="0" rIns="0">
            <a:spAutoFit/>
          </a:bodyPr>
          <a:lstStyle/>
          <a:p>
            <a:pPr algn="just">
              <a:lnSpc>
                <a:spcPts val="3129"/>
              </a:lnSpc>
            </a:pPr>
            <a:r>
              <a:rPr lang="en-US" sz="2235">
                <a:solidFill>
                  <a:srgbClr val="000000"/>
                </a:solidFill>
                <a:latin typeface="Montserrat"/>
                <a:ea typeface="Montserrat"/>
                <a:cs typeface="Montserrat"/>
                <a:sym typeface="Montserrat"/>
              </a:rPr>
              <a:t>Flood r</a:t>
            </a:r>
            <a:r>
              <a:rPr lang="en-US" sz="2235">
                <a:solidFill>
                  <a:srgbClr val="000000"/>
                </a:solidFill>
                <a:latin typeface="Montserrat"/>
                <a:ea typeface="Montserrat"/>
                <a:cs typeface="Montserrat"/>
                <a:sym typeface="Montserrat"/>
              </a:rPr>
              <a:t>isk assessment is a mandatory yet time-consuming step in development planning, requiring multiple datasets, specialized GIS tools, and significant technical expertise that are often inaccessible during early-stage planning. As a result, developers, local authorities, and consultants are frequently forced to wait for full technical studies before determining whether a site carries meaningful flood risk. Ginkgo was built to close this gap, specifically targeting urban flash flooding caused by intense rainfall and rapid urbanization. It is a web-based geospatial AI decision-support platform that combines a Flood Risk Prediction model and an Impervious Surface Detection model with GIS spatial analysis (elevation, slope, flow accumulation, river proximity) to generate predictive scenarios under normal, heavy rain, and extreme rain conditions. The system outputs a flood risk classification, site suitability rating, and preliminary OSD estimate through an interactive map, dashboard, and exportable report to help planners identify risk earlier and make smarter development decisions.</a:t>
            </a:r>
          </a:p>
        </p:txBody>
      </p:sp>
      <p:sp>
        <p:nvSpPr>
          <p:cNvPr name="TextBox 60" id="60"/>
          <p:cNvSpPr txBox="true"/>
          <p:nvPr/>
        </p:nvSpPr>
        <p:spPr>
          <a:xfrm rot="0">
            <a:off x="11054549" y="8222762"/>
            <a:ext cx="8505607" cy="1162414"/>
          </a:xfrm>
          <a:prstGeom prst="rect">
            <a:avLst/>
          </a:prstGeom>
        </p:spPr>
        <p:txBody>
          <a:bodyPr anchor="t" rtlCol="false" tIns="0" lIns="0" bIns="0" rIns="0">
            <a:spAutoFit/>
          </a:bodyPr>
          <a:lstStyle/>
          <a:p>
            <a:pPr algn="just" marL="482681" indent="-241340" lvl="1">
              <a:lnSpc>
                <a:spcPts val="3129"/>
              </a:lnSpc>
              <a:buFont typeface="Arial"/>
              <a:buChar char="•"/>
            </a:pPr>
            <a:r>
              <a:rPr lang="en-US" sz="2235">
                <a:solidFill>
                  <a:srgbClr val="000000"/>
                </a:solidFill>
                <a:latin typeface="Montserrat"/>
                <a:ea typeface="Montserrat"/>
                <a:cs typeface="Montserrat"/>
                <a:sym typeface="Montserrat"/>
              </a:rPr>
              <a:t>Enable faster, Al-assisted early screening of flood risk and site suitability using official satellite</a:t>
            </a:r>
            <a:r>
              <a:rPr lang="en-US" sz="2235">
                <a:solidFill>
                  <a:srgbClr val="000000"/>
                </a:solidFill>
                <a:latin typeface="Montserrat"/>
                <a:ea typeface="Montserrat"/>
                <a:cs typeface="Montserrat"/>
                <a:sym typeface="Montserrat"/>
              </a:rPr>
              <a:t> / geospatial data</a:t>
            </a:r>
          </a:p>
        </p:txBody>
      </p:sp>
      <p:sp>
        <p:nvSpPr>
          <p:cNvPr name="TextBox 61" id="61"/>
          <p:cNvSpPr txBox="true"/>
          <p:nvPr/>
        </p:nvSpPr>
        <p:spPr>
          <a:xfrm rot="0">
            <a:off x="5383970" y="5213295"/>
            <a:ext cx="11643974" cy="322569"/>
          </a:xfrm>
          <a:prstGeom prst="rect">
            <a:avLst/>
          </a:prstGeom>
        </p:spPr>
        <p:txBody>
          <a:bodyPr anchor="t" rtlCol="false" tIns="0" lIns="0" bIns="0" rIns="0">
            <a:spAutoFit/>
          </a:bodyPr>
          <a:lstStyle/>
          <a:p>
            <a:pPr algn="l">
              <a:lnSpc>
                <a:spcPts val="2695"/>
              </a:lnSpc>
              <a:spcBef>
                <a:spcPct val="0"/>
              </a:spcBef>
            </a:pPr>
            <a:r>
              <a:rPr lang="en-US" b="true" sz="1925" spc="119">
                <a:solidFill>
                  <a:srgbClr val="075B50"/>
                </a:solidFill>
                <a:latin typeface="Montserrat Bold"/>
                <a:ea typeface="Montserrat Bold"/>
                <a:cs typeface="Montserrat Bold"/>
                <a:sym typeface="Montserrat Bold"/>
              </a:rPr>
              <a:t>PROJECT SUPERVISOR: TS. NURZEATUL HAMIMAH BINTI ABDUL HAMID</a:t>
            </a:r>
          </a:p>
        </p:txBody>
      </p:sp>
      <p:sp>
        <p:nvSpPr>
          <p:cNvPr name="TextBox 62" id="62"/>
          <p:cNvSpPr txBox="true"/>
          <p:nvPr/>
        </p:nvSpPr>
        <p:spPr>
          <a:xfrm rot="0">
            <a:off x="3502806" y="6447113"/>
            <a:ext cx="10413917" cy="236038"/>
          </a:xfrm>
          <a:prstGeom prst="rect">
            <a:avLst/>
          </a:prstGeom>
        </p:spPr>
        <p:txBody>
          <a:bodyPr anchor="t" rtlCol="false" tIns="0" lIns="0" bIns="0" rIns="0">
            <a:spAutoFit/>
          </a:bodyPr>
          <a:lstStyle/>
          <a:p>
            <a:pPr algn="l">
              <a:lnSpc>
                <a:spcPts val="1972"/>
              </a:lnSpc>
              <a:spcBef>
                <a:spcPct val="0"/>
              </a:spcBef>
            </a:pPr>
            <a:r>
              <a:rPr lang="en-US" sz="1408" spc="87">
                <a:solidFill>
                  <a:srgbClr val="075B50"/>
                </a:solidFill>
                <a:latin typeface="Montserrat"/>
                <a:ea typeface="Montserrat"/>
                <a:cs typeface="Montserrat"/>
                <a:sym typeface="Montserrat"/>
              </a:rPr>
              <a:t>INSTITUTION: FACULTY OF COMPUTER AND MATHEMATICAL SCIENCES, UNIVERSITI TEKNOLOGI MARA |</a:t>
            </a:r>
          </a:p>
        </p:txBody>
      </p:sp>
      <p:sp>
        <p:nvSpPr>
          <p:cNvPr name="TextBox 63" id="63"/>
          <p:cNvSpPr txBox="true"/>
          <p:nvPr/>
        </p:nvSpPr>
        <p:spPr>
          <a:xfrm rot="0">
            <a:off x="2627047" y="7191688"/>
            <a:ext cx="3045360" cy="590122"/>
          </a:xfrm>
          <a:prstGeom prst="rect">
            <a:avLst/>
          </a:prstGeom>
        </p:spPr>
        <p:txBody>
          <a:bodyPr anchor="t" rtlCol="false" tIns="0" lIns="0" bIns="0" rIns="0">
            <a:spAutoFit/>
          </a:bodyPr>
          <a:lstStyle/>
          <a:p>
            <a:pPr algn="l">
              <a:lnSpc>
                <a:spcPts val="4890"/>
              </a:lnSpc>
              <a:spcBef>
                <a:spcPct val="0"/>
              </a:spcBef>
            </a:pPr>
            <a:r>
              <a:rPr lang="en-US" sz="3493" spc="216">
                <a:solidFill>
                  <a:srgbClr val="075B50"/>
                </a:solidFill>
                <a:latin typeface="Anton"/>
                <a:ea typeface="Anton"/>
                <a:cs typeface="Anton"/>
                <a:sym typeface="Anton"/>
              </a:rPr>
              <a:t>ABS</a:t>
            </a:r>
            <a:r>
              <a:rPr lang="en-US" sz="3493" spc="216">
                <a:solidFill>
                  <a:srgbClr val="075B50"/>
                </a:solidFill>
                <a:latin typeface="Anton"/>
                <a:ea typeface="Anton"/>
                <a:cs typeface="Anton"/>
                <a:sym typeface="Anton"/>
              </a:rPr>
              <a:t>TRACT</a:t>
            </a:r>
          </a:p>
        </p:txBody>
      </p:sp>
      <p:sp>
        <p:nvSpPr>
          <p:cNvPr name="TextBox 64" id="64"/>
          <p:cNvSpPr txBox="true"/>
          <p:nvPr/>
        </p:nvSpPr>
        <p:spPr>
          <a:xfrm rot="0">
            <a:off x="1811927" y="27648893"/>
            <a:ext cx="17788122" cy="1534715"/>
          </a:xfrm>
          <a:prstGeom prst="rect">
            <a:avLst/>
          </a:prstGeom>
        </p:spPr>
        <p:txBody>
          <a:bodyPr anchor="t" rtlCol="false" tIns="0" lIns="0" bIns="0" rIns="0">
            <a:spAutoFit/>
          </a:bodyPr>
          <a:lstStyle/>
          <a:p>
            <a:pPr algn="just">
              <a:lnSpc>
                <a:spcPts val="3129"/>
              </a:lnSpc>
            </a:pPr>
            <a:r>
              <a:rPr lang="en-US" sz="2235">
                <a:solidFill>
                  <a:srgbClr val="000000"/>
                </a:solidFill>
                <a:latin typeface="Montserrat"/>
                <a:ea typeface="Montserrat"/>
                <a:cs typeface="Montserrat"/>
                <a:sym typeface="Montserrat"/>
              </a:rPr>
              <a:t>The</a:t>
            </a:r>
            <a:r>
              <a:rPr lang="en-US" sz="2235">
                <a:solidFill>
                  <a:srgbClr val="000000"/>
                </a:solidFill>
                <a:latin typeface="Montserrat"/>
                <a:ea typeface="Montserrat"/>
                <a:cs typeface="Montserrat"/>
                <a:sym typeface="Montserrat"/>
              </a:rPr>
              <a:t> findings substantiate the proposed theoretical revisions regarding systemic functionality. Implementing these revised frameworks will significantly optimize future research trajectories. Collaborative efforts across academic disciplines are essential to fully integrate these methodologies and address emerging challenges effectively throughout the coming decade.</a:t>
            </a:r>
          </a:p>
        </p:txBody>
      </p:sp>
      <p:sp>
        <p:nvSpPr>
          <p:cNvPr name="TextBox 65" id="65"/>
          <p:cNvSpPr txBox="true"/>
          <p:nvPr/>
        </p:nvSpPr>
        <p:spPr>
          <a:xfrm rot="0">
            <a:off x="9066938" y="17246711"/>
            <a:ext cx="4644604" cy="534275"/>
          </a:xfrm>
          <a:prstGeom prst="rect">
            <a:avLst/>
          </a:prstGeom>
        </p:spPr>
        <p:txBody>
          <a:bodyPr anchor="t" rtlCol="false" tIns="0" lIns="0" bIns="0" rIns="0">
            <a:spAutoFit/>
          </a:bodyPr>
          <a:lstStyle/>
          <a:p>
            <a:pPr algn="ctr">
              <a:lnSpc>
                <a:spcPts val="4303"/>
              </a:lnSpc>
              <a:spcBef>
                <a:spcPct val="0"/>
              </a:spcBef>
            </a:pPr>
            <a:r>
              <a:rPr lang="en-US" sz="3074" spc="190">
                <a:solidFill>
                  <a:srgbClr val="075B50"/>
                </a:solidFill>
                <a:latin typeface="Anton"/>
                <a:ea typeface="Anton"/>
                <a:cs typeface="Anton"/>
                <a:sym typeface="Anton"/>
              </a:rPr>
              <a:t>TARGET ADOPTER SEGMENTS</a:t>
            </a:r>
          </a:p>
        </p:txBody>
      </p:sp>
      <p:sp>
        <p:nvSpPr>
          <p:cNvPr name="TextBox 66" id="66"/>
          <p:cNvSpPr txBox="true"/>
          <p:nvPr/>
        </p:nvSpPr>
        <p:spPr>
          <a:xfrm rot="0">
            <a:off x="14623834" y="17246737"/>
            <a:ext cx="5207635" cy="534275"/>
          </a:xfrm>
          <a:prstGeom prst="rect">
            <a:avLst/>
          </a:prstGeom>
        </p:spPr>
        <p:txBody>
          <a:bodyPr anchor="t" rtlCol="false" tIns="0" lIns="0" bIns="0" rIns="0">
            <a:spAutoFit/>
          </a:bodyPr>
          <a:lstStyle/>
          <a:p>
            <a:pPr algn="l">
              <a:lnSpc>
                <a:spcPts val="4303"/>
              </a:lnSpc>
              <a:spcBef>
                <a:spcPct val="0"/>
              </a:spcBef>
            </a:pPr>
            <a:r>
              <a:rPr lang="en-US" sz="3074" spc="190">
                <a:solidFill>
                  <a:srgbClr val="075B50"/>
                </a:solidFill>
                <a:latin typeface="Anton"/>
                <a:ea typeface="Anton"/>
                <a:cs typeface="Anton"/>
                <a:sym typeface="Anton"/>
              </a:rPr>
              <a:t>WHERE GINKGO REDUCES EFFORT</a:t>
            </a:r>
          </a:p>
        </p:txBody>
      </p:sp>
      <p:sp>
        <p:nvSpPr>
          <p:cNvPr name="TextBox 67" id="67"/>
          <p:cNvSpPr txBox="true"/>
          <p:nvPr/>
        </p:nvSpPr>
        <p:spPr>
          <a:xfrm rot="0">
            <a:off x="9550843" y="21605106"/>
            <a:ext cx="4916872" cy="323318"/>
          </a:xfrm>
          <a:prstGeom prst="rect">
            <a:avLst/>
          </a:prstGeom>
        </p:spPr>
        <p:txBody>
          <a:bodyPr anchor="t" rtlCol="false" tIns="0" lIns="0" bIns="0" rIns="0">
            <a:spAutoFit/>
          </a:bodyPr>
          <a:lstStyle/>
          <a:p>
            <a:pPr algn="l">
              <a:lnSpc>
                <a:spcPts val="2654"/>
              </a:lnSpc>
              <a:spcBef>
                <a:spcPct val="0"/>
              </a:spcBef>
            </a:pPr>
            <a:r>
              <a:rPr lang="en-US" sz="1895" spc="117">
                <a:solidFill>
                  <a:srgbClr val="000000"/>
                </a:solidFill>
                <a:latin typeface="Montserrat"/>
                <a:ea typeface="Montserrat"/>
                <a:cs typeface="Montserrat"/>
                <a:sym typeface="Montserrat"/>
              </a:rPr>
              <a:t>ENGINEERING CONSULTANTS</a:t>
            </a:r>
            <a:r>
              <a:rPr lang="en-US" sz="1895" spc="117">
                <a:solidFill>
                  <a:srgbClr val="000000"/>
                </a:solidFill>
                <a:latin typeface="Montserrat"/>
                <a:ea typeface="Montserrat"/>
                <a:cs typeface="Montserrat"/>
                <a:sym typeface="Montserrat"/>
              </a:rPr>
              <a:t> - 25%</a:t>
            </a:r>
          </a:p>
        </p:txBody>
      </p:sp>
      <p:sp>
        <p:nvSpPr>
          <p:cNvPr name="TextBox 68" id="68"/>
          <p:cNvSpPr txBox="true"/>
          <p:nvPr/>
        </p:nvSpPr>
        <p:spPr>
          <a:xfrm rot="0">
            <a:off x="9550843" y="22019291"/>
            <a:ext cx="4084761" cy="344214"/>
          </a:xfrm>
          <a:prstGeom prst="rect">
            <a:avLst/>
          </a:prstGeom>
        </p:spPr>
        <p:txBody>
          <a:bodyPr anchor="t" rtlCol="false" tIns="0" lIns="0" bIns="0" rIns="0">
            <a:spAutoFit/>
          </a:bodyPr>
          <a:lstStyle/>
          <a:p>
            <a:pPr algn="l">
              <a:lnSpc>
                <a:spcPts val="2934"/>
              </a:lnSpc>
              <a:spcBef>
                <a:spcPct val="0"/>
              </a:spcBef>
            </a:pPr>
            <a:r>
              <a:rPr lang="en-US" sz="2095" spc="129">
                <a:solidFill>
                  <a:srgbClr val="000000"/>
                </a:solidFill>
                <a:latin typeface="Montserrat"/>
                <a:ea typeface="Montserrat"/>
                <a:cs typeface="Montserrat"/>
                <a:sym typeface="Montserrat"/>
              </a:rPr>
              <a:t>LAND DEVELOPERS - 35%</a:t>
            </a:r>
          </a:p>
        </p:txBody>
      </p:sp>
      <p:sp>
        <p:nvSpPr>
          <p:cNvPr name="TextBox 69" id="69"/>
          <p:cNvSpPr txBox="true"/>
          <p:nvPr/>
        </p:nvSpPr>
        <p:spPr>
          <a:xfrm rot="0">
            <a:off x="9550843" y="22407658"/>
            <a:ext cx="4234541" cy="344214"/>
          </a:xfrm>
          <a:prstGeom prst="rect">
            <a:avLst/>
          </a:prstGeom>
        </p:spPr>
        <p:txBody>
          <a:bodyPr anchor="t" rtlCol="false" tIns="0" lIns="0" bIns="0" rIns="0">
            <a:spAutoFit/>
          </a:bodyPr>
          <a:lstStyle/>
          <a:p>
            <a:pPr algn="l">
              <a:lnSpc>
                <a:spcPts val="2934"/>
              </a:lnSpc>
              <a:spcBef>
                <a:spcPct val="0"/>
              </a:spcBef>
            </a:pPr>
            <a:r>
              <a:rPr lang="en-US" sz="2095" spc="129">
                <a:solidFill>
                  <a:srgbClr val="000000"/>
                </a:solidFill>
                <a:latin typeface="Montserrat"/>
                <a:ea typeface="Montserrat"/>
                <a:cs typeface="Montserrat"/>
                <a:sym typeface="Montserrat"/>
              </a:rPr>
              <a:t>LOCAL AUTHORITIES - 40%</a:t>
            </a:r>
          </a:p>
        </p:txBody>
      </p:sp>
      <p:sp>
        <p:nvSpPr>
          <p:cNvPr name="TextBox 70" id="70"/>
          <p:cNvSpPr txBox="true"/>
          <p:nvPr/>
        </p:nvSpPr>
        <p:spPr>
          <a:xfrm rot="0">
            <a:off x="12188863" y="7191688"/>
            <a:ext cx="3045360" cy="590174"/>
          </a:xfrm>
          <a:prstGeom prst="rect">
            <a:avLst/>
          </a:prstGeom>
        </p:spPr>
        <p:txBody>
          <a:bodyPr anchor="t" rtlCol="false" tIns="0" lIns="0" bIns="0" rIns="0">
            <a:spAutoFit/>
          </a:bodyPr>
          <a:lstStyle/>
          <a:p>
            <a:pPr algn="l">
              <a:lnSpc>
                <a:spcPts val="4890"/>
              </a:lnSpc>
              <a:spcBef>
                <a:spcPct val="0"/>
              </a:spcBef>
            </a:pPr>
            <a:r>
              <a:rPr lang="en-US" sz="3493" spc="216">
                <a:solidFill>
                  <a:srgbClr val="075B50"/>
                </a:solidFill>
                <a:latin typeface="Anton"/>
                <a:ea typeface="Anton"/>
                <a:cs typeface="Anton"/>
                <a:sym typeface="Anton"/>
              </a:rPr>
              <a:t>OBJECTIVE</a:t>
            </a:r>
          </a:p>
        </p:txBody>
      </p:sp>
      <p:sp>
        <p:nvSpPr>
          <p:cNvPr name="TextBox 71" id="71"/>
          <p:cNvSpPr txBox="true"/>
          <p:nvPr/>
        </p:nvSpPr>
        <p:spPr>
          <a:xfrm rot="0">
            <a:off x="1811927" y="17649442"/>
            <a:ext cx="6147615" cy="1534715"/>
          </a:xfrm>
          <a:prstGeom prst="rect">
            <a:avLst/>
          </a:prstGeom>
        </p:spPr>
        <p:txBody>
          <a:bodyPr anchor="t" rtlCol="false" tIns="0" lIns="0" bIns="0" rIns="0">
            <a:spAutoFit/>
          </a:bodyPr>
          <a:lstStyle/>
          <a:p>
            <a:pPr algn="just" marL="482680" indent="-241340" lvl="1">
              <a:lnSpc>
                <a:spcPts val="3129"/>
              </a:lnSpc>
              <a:buFont typeface="Arial"/>
              <a:buChar char="•"/>
            </a:pPr>
            <a:r>
              <a:rPr lang="en-US" sz="2235">
                <a:solidFill>
                  <a:srgbClr val="000000"/>
                </a:solidFill>
                <a:latin typeface="Montserrat"/>
                <a:ea typeface="Montserrat"/>
                <a:cs typeface="Montserrat"/>
                <a:sym typeface="Montserrat"/>
              </a:rPr>
              <a:t>Speeds</a:t>
            </a:r>
            <a:r>
              <a:rPr lang="en-US" sz="2235">
                <a:solidFill>
                  <a:srgbClr val="000000"/>
                </a:solidFill>
                <a:latin typeface="Montserrat"/>
                <a:ea typeface="Montserrat"/>
                <a:cs typeface="Montserrat"/>
                <a:sym typeface="Montserrat"/>
              </a:rPr>
              <a:t> up early-stage flood risk screening, flagging high-risk sites instead of waiting weeks for a full technical study</a:t>
            </a:r>
          </a:p>
        </p:txBody>
      </p:sp>
      <p:sp>
        <p:nvSpPr>
          <p:cNvPr name="TextBox 72" id="72"/>
          <p:cNvSpPr txBox="true"/>
          <p:nvPr/>
        </p:nvSpPr>
        <p:spPr>
          <a:xfrm rot="0">
            <a:off x="1811927" y="19608225"/>
            <a:ext cx="6147615" cy="1148746"/>
          </a:xfrm>
          <a:prstGeom prst="rect">
            <a:avLst/>
          </a:prstGeom>
        </p:spPr>
        <p:txBody>
          <a:bodyPr anchor="t" rtlCol="false" tIns="0" lIns="0" bIns="0" rIns="0">
            <a:spAutoFit/>
          </a:bodyPr>
          <a:lstStyle/>
          <a:p>
            <a:pPr algn="just" marL="482680" indent="-241340" lvl="1">
              <a:lnSpc>
                <a:spcPts val="3129"/>
              </a:lnSpc>
              <a:buFont typeface="Arial"/>
              <a:buChar char="•"/>
            </a:pPr>
            <a:r>
              <a:rPr lang="en-US" sz="2235">
                <a:solidFill>
                  <a:srgbClr val="000000"/>
                </a:solidFill>
                <a:latin typeface="Montserrat"/>
                <a:ea typeface="Montserrat"/>
                <a:cs typeface="Montserrat"/>
                <a:sym typeface="Montserrat"/>
              </a:rPr>
              <a:t>Makes comp</a:t>
            </a:r>
            <a:r>
              <a:rPr lang="en-US" sz="2235">
                <a:solidFill>
                  <a:srgbClr val="000000"/>
                </a:solidFill>
                <a:latin typeface="Montserrat"/>
                <a:ea typeface="Montserrat"/>
                <a:cs typeface="Montserrat"/>
                <a:sym typeface="Montserrat"/>
              </a:rPr>
              <a:t>lex satellite and geospatial data usable by non-GIS specialists through one interpretable output</a:t>
            </a:r>
          </a:p>
        </p:txBody>
      </p:sp>
      <p:sp>
        <p:nvSpPr>
          <p:cNvPr name="TextBox 73" id="73"/>
          <p:cNvSpPr txBox="true"/>
          <p:nvPr/>
        </p:nvSpPr>
        <p:spPr>
          <a:xfrm rot="0">
            <a:off x="1811927" y="21414196"/>
            <a:ext cx="6147615" cy="1534715"/>
          </a:xfrm>
          <a:prstGeom prst="rect">
            <a:avLst/>
          </a:prstGeom>
        </p:spPr>
        <p:txBody>
          <a:bodyPr anchor="t" rtlCol="false" tIns="0" lIns="0" bIns="0" rIns="0">
            <a:spAutoFit/>
          </a:bodyPr>
          <a:lstStyle/>
          <a:p>
            <a:pPr algn="just" marL="482680" indent="-241340" lvl="1">
              <a:lnSpc>
                <a:spcPts val="3129"/>
              </a:lnSpc>
              <a:buFont typeface="Arial"/>
              <a:buChar char="•"/>
            </a:pPr>
            <a:r>
              <a:rPr lang="en-US" sz="2235">
                <a:solidFill>
                  <a:srgbClr val="000000"/>
                </a:solidFill>
                <a:latin typeface="Montserrat"/>
                <a:ea typeface="Montserrat"/>
                <a:cs typeface="Montserrat"/>
                <a:sym typeface="Montserrat"/>
              </a:rPr>
              <a:t>Enables side-by-side comparison of flood r</a:t>
            </a:r>
            <a:r>
              <a:rPr lang="en-US" sz="2235">
                <a:solidFill>
                  <a:srgbClr val="000000"/>
                </a:solidFill>
                <a:latin typeface="Montserrat"/>
                <a:ea typeface="Montserrat"/>
                <a:cs typeface="Montserrat"/>
                <a:sym typeface="Montserrat"/>
              </a:rPr>
              <a:t>isk across rainfall scenarios in a single interface</a:t>
            </a:r>
          </a:p>
          <a:p>
            <a:pPr algn="just">
              <a:lnSpc>
                <a:spcPts val="3129"/>
              </a:lnSpc>
            </a:pPr>
          </a:p>
        </p:txBody>
      </p:sp>
      <p:sp>
        <p:nvSpPr>
          <p:cNvPr name="TextBox 74" id="74"/>
          <p:cNvSpPr txBox="true"/>
          <p:nvPr/>
        </p:nvSpPr>
        <p:spPr>
          <a:xfrm rot="0">
            <a:off x="2656515" y="16510078"/>
            <a:ext cx="10610895" cy="590174"/>
          </a:xfrm>
          <a:prstGeom prst="rect">
            <a:avLst/>
          </a:prstGeom>
        </p:spPr>
        <p:txBody>
          <a:bodyPr anchor="t" rtlCol="false" tIns="0" lIns="0" bIns="0" rIns="0">
            <a:spAutoFit/>
          </a:bodyPr>
          <a:lstStyle/>
          <a:p>
            <a:pPr algn="l">
              <a:lnSpc>
                <a:spcPts val="4890"/>
              </a:lnSpc>
              <a:spcBef>
                <a:spcPct val="0"/>
              </a:spcBef>
            </a:pPr>
            <a:r>
              <a:rPr lang="en-US" sz="3493" spc="216">
                <a:solidFill>
                  <a:srgbClr val="FFFFFF"/>
                </a:solidFill>
                <a:latin typeface="Anton"/>
                <a:ea typeface="Anton"/>
                <a:cs typeface="Anton"/>
                <a:sym typeface="Anton"/>
              </a:rPr>
              <a:t>USEFULNESS &amp; COMMERCIALISATION POTENTIAL</a:t>
            </a:r>
          </a:p>
        </p:txBody>
      </p:sp>
      <p:sp>
        <p:nvSpPr>
          <p:cNvPr name="TextBox 75" id="75"/>
          <p:cNvSpPr txBox="true"/>
          <p:nvPr/>
        </p:nvSpPr>
        <p:spPr>
          <a:xfrm rot="0">
            <a:off x="2641781" y="26243352"/>
            <a:ext cx="3045360" cy="590174"/>
          </a:xfrm>
          <a:prstGeom prst="rect">
            <a:avLst/>
          </a:prstGeom>
        </p:spPr>
        <p:txBody>
          <a:bodyPr anchor="t" rtlCol="false" tIns="0" lIns="0" bIns="0" rIns="0">
            <a:spAutoFit/>
          </a:bodyPr>
          <a:lstStyle/>
          <a:p>
            <a:pPr algn="l">
              <a:lnSpc>
                <a:spcPts val="4890"/>
              </a:lnSpc>
              <a:spcBef>
                <a:spcPct val="0"/>
              </a:spcBef>
            </a:pPr>
            <a:r>
              <a:rPr lang="en-US" sz="3493" spc="216">
                <a:solidFill>
                  <a:srgbClr val="075B50"/>
                </a:solidFill>
                <a:latin typeface="Anton"/>
                <a:ea typeface="Anton"/>
                <a:cs typeface="Anton"/>
                <a:sym typeface="Anton"/>
              </a:rPr>
              <a:t>CON</a:t>
            </a:r>
            <a:r>
              <a:rPr lang="en-US" sz="3493" spc="216">
                <a:solidFill>
                  <a:srgbClr val="075B50"/>
                </a:solidFill>
                <a:latin typeface="Anton"/>
                <a:ea typeface="Anton"/>
                <a:cs typeface="Anton"/>
                <a:sym typeface="Anton"/>
              </a:rPr>
              <a:t>CLUSION</a:t>
            </a:r>
          </a:p>
        </p:txBody>
      </p:sp>
      <p:sp>
        <p:nvSpPr>
          <p:cNvPr name="TextBox 76" id="76"/>
          <p:cNvSpPr txBox="true"/>
          <p:nvPr/>
        </p:nvSpPr>
        <p:spPr>
          <a:xfrm rot="0">
            <a:off x="5570020" y="3387604"/>
            <a:ext cx="14490904" cy="1241209"/>
          </a:xfrm>
          <a:prstGeom prst="rect">
            <a:avLst/>
          </a:prstGeom>
        </p:spPr>
        <p:txBody>
          <a:bodyPr anchor="t" rtlCol="false" tIns="0" lIns="0" bIns="0" rIns="0">
            <a:spAutoFit/>
          </a:bodyPr>
          <a:lstStyle/>
          <a:p>
            <a:pPr algn="l">
              <a:lnSpc>
                <a:spcPts val="5086"/>
              </a:lnSpc>
              <a:spcBef>
                <a:spcPct val="0"/>
              </a:spcBef>
            </a:pPr>
            <a:r>
              <a:rPr lang="en-US" b="true" sz="3633" spc="225">
                <a:solidFill>
                  <a:srgbClr val="075B50"/>
                </a:solidFill>
                <a:latin typeface="Montserrat Bold"/>
                <a:ea typeface="Montserrat Bold"/>
                <a:cs typeface="Montserrat Bold"/>
                <a:sym typeface="Montserrat Bold"/>
              </a:rPr>
              <a:t>AI-POWERED PREDICTIVE FLOOD INTELLIGENCE FOR SMARTER DEVELOPMENT PLANNING</a:t>
            </a:r>
          </a:p>
        </p:txBody>
      </p:sp>
      <p:sp>
        <p:nvSpPr>
          <p:cNvPr name="TextBox 77" id="77"/>
          <p:cNvSpPr txBox="true"/>
          <p:nvPr/>
        </p:nvSpPr>
        <p:spPr>
          <a:xfrm rot="0">
            <a:off x="13916724" y="6447113"/>
            <a:ext cx="5515332" cy="236038"/>
          </a:xfrm>
          <a:prstGeom prst="rect">
            <a:avLst/>
          </a:prstGeom>
        </p:spPr>
        <p:txBody>
          <a:bodyPr anchor="t" rtlCol="false" tIns="0" lIns="0" bIns="0" rIns="0">
            <a:spAutoFit/>
          </a:bodyPr>
          <a:lstStyle/>
          <a:p>
            <a:pPr algn="l">
              <a:lnSpc>
                <a:spcPts val="1972"/>
              </a:lnSpc>
              <a:spcBef>
                <a:spcPct val="0"/>
              </a:spcBef>
            </a:pPr>
            <a:r>
              <a:rPr lang="en-US" sz="1408" spc="87">
                <a:solidFill>
                  <a:srgbClr val="075B50"/>
                </a:solidFill>
                <a:latin typeface="Montserrat"/>
                <a:ea typeface="Montserrat"/>
                <a:cs typeface="Montserrat"/>
                <a:sym typeface="Montserrat"/>
              </a:rPr>
              <a:t>URBIEE NO.: B</a:t>
            </a:r>
            <a:r>
              <a:rPr lang="en-US" sz="1408" spc="87">
                <a:solidFill>
                  <a:srgbClr val="075B50"/>
                </a:solidFill>
                <a:latin typeface="Montserrat"/>
                <a:ea typeface="Montserrat"/>
                <a:cs typeface="Montserrat"/>
                <a:sym typeface="Montserrat"/>
              </a:rPr>
              <a:t>ST03 | CATEGORY B UITM STUDENTS</a:t>
            </a:r>
          </a:p>
        </p:txBody>
      </p:sp>
      <p:sp>
        <p:nvSpPr>
          <p:cNvPr name="TextBox 78" id="78"/>
          <p:cNvSpPr txBox="true"/>
          <p:nvPr/>
        </p:nvSpPr>
        <p:spPr>
          <a:xfrm rot="0">
            <a:off x="3436999" y="5624291"/>
            <a:ext cx="14657338" cy="656289"/>
          </a:xfrm>
          <a:prstGeom prst="rect">
            <a:avLst/>
          </a:prstGeom>
        </p:spPr>
        <p:txBody>
          <a:bodyPr anchor="t" rtlCol="false" tIns="0" lIns="0" bIns="0" rIns="0">
            <a:spAutoFit/>
          </a:bodyPr>
          <a:lstStyle/>
          <a:p>
            <a:pPr algn="ctr">
              <a:lnSpc>
                <a:spcPts val="2676"/>
              </a:lnSpc>
              <a:spcBef>
                <a:spcPct val="0"/>
              </a:spcBef>
            </a:pPr>
            <a:r>
              <a:rPr lang="en-US" b="true" sz="1911" spc="118">
                <a:solidFill>
                  <a:srgbClr val="075B50"/>
                </a:solidFill>
                <a:latin typeface="Montserrat Bold"/>
                <a:ea typeface="Montserrat Bold"/>
                <a:cs typeface="Montserrat Bold"/>
                <a:sym typeface="Montserrat Bold"/>
              </a:rPr>
              <a:t>PREPARED BY  MUHAMMAD LUQMAN NURHAKIM BIN ROSLI, BATRISYIA AFRINA BINTI RISAMUDDIN, NADYIE AZIL BIN NAZERI</a:t>
            </a:r>
          </a:p>
        </p:txBody>
      </p:sp>
      <p:sp>
        <p:nvSpPr>
          <p:cNvPr name="TextBox 79" id="79"/>
          <p:cNvSpPr txBox="true"/>
          <p:nvPr/>
        </p:nvSpPr>
        <p:spPr>
          <a:xfrm rot="0">
            <a:off x="11054549" y="9518526"/>
            <a:ext cx="8505607" cy="1162414"/>
          </a:xfrm>
          <a:prstGeom prst="rect">
            <a:avLst/>
          </a:prstGeom>
        </p:spPr>
        <p:txBody>
          <a:bodyPr anchor="t" rtlCol="false" tIns="0" lIns="0" bIns="0" rIns="0">
            <a:spAutoFit/>
          </a:bodyPr>
          <a:lstStyle/>
          <a:p>
            <a:pPr algn="just" marL="482681" indent="-241340" lvl="1">
              <a:lnSpc>
                <a:spcPts val="3129"/>
              </a:lnSpc>
              <a:buFont typeface="Arial"/>
              <a:buChar char="•"/>
            </a:pPr>
            <a:r>
              <a:rPr lang="en-US" sz="2235">
                <a:solidFill>
                  <a:srgbClr val="000000"/>
                </a:solidFill>
                <a:latin typeface="Montserrat"/>
                <a:ea typeface="Montserrat"/>
                <a:cs typeface="Montserrat"/>
                <a:sym typeface="Montserrat"/>
              </a:rPr>
              <a:t>Integrate Al-based flood prediction and impervious surface detection with GIS spatial analysis into a single decision-support platform</a:t>
            </a:r>
          </a:p>
        </p:txBody>
      </p:sp>
      <p:sp>
        <p:nvSpPr>
          <p:cNvPr name="TextBox 80" id="80"/>
          <p:cNvSpPr txBox="true"/>
          <p:nvPr/>
        </p:nvSpPr>
        <p:spPr>
          <a:xfrm rot="0">
            <a:off x="10997408" y="10814290"/>
            <a:ext cx="8505607" cy="1162414"/>
          </a:xfrm>
          <a:prstGeom prst="rect">
            <a:avLst/>
          </a:prstGeom>
        </p:spPr>
        <p:txBody>
          <a:bodyPr anchor="t" rtlCol="false" tIns="0" lIns="0" bIns="0" rIns="0">
            <a:spAutoFit/>
          </a:bodyPr>
          <a:lstStyle/>
          <a:p>
            <a:pPr algn="just" marL="482681" indent="-241340" lvl="1">
              <a:lnSpc>
                <a:spcPts val="3129"/>
              </a:lnSpc>
              <a:buFont typeface="Arial"/>
              <a:buChar char="•"/>
            </a:pPr>
            <a:r>
              <a:rPr lang="en-US" sz="2235">
                <a:solidFill>
                  <a:srgbClr val="000000"/>
                </a:solidFill>
                <a:latin typeface="Montserrat"/>
                <a:ea typeface="Montserrat"/>
                <a:cs typeface="Montserrat"/>
                <a:sym typeface="Montserrat"/>
              </a:rPr>
              <a:t>Support land developers, local authorities / urban planners, and engineering consultants with actionable, early-stage planning insights</a:t>
            </a:r>
          </a:p>
        </p:txBody>
      </p:sp>
      <p:sp>
        <p:nvSpPr>
          <p:cNvPr name="TextBox 81" id="81"/>
          <p:cNvSpPr txBox="true"/>
          <p:nvPr/>
        </p:nvSpPr>
        <p:spPr>
          <a:xfrm rot="0">
            <a:off x="10997408" y="12110054"/>
            <a:ext cx="8505607" cy="1162414"/>
          </a:xfrm>
          <a:prstGeom prst="rect">
            <a:avLst/>
          </a:prstGeom>
        </p:spPr>
        <p:txBody>
          <a:bodyPr anchor="t" rtlCol="false" tIns="0" lIns="0" bIns="0" rIns="0">
            <a:spAutoFit/>
          </a:bodyPr>
          <a:lstStyle/>
          <a:p>
            <a:pPr algn="l" marL="482681" indent="-241340" lvl="1">
              <a:lnSpc>
                <a:spcPts val="3129"/>
              </a:lnSpc>
              <a:buFont typeface="Arial"/>
              <a:buChar char="•"/>
            </a:pPr>
            <a:r>
              <a:rPr lang="en-US" sz="2235">
                <a:solidFill>
                  <a:srgbClr val="000000"/>
                </a:solidFill>
                <a:latin typeface="Montserrat"/>
                <a:ea typeface="Montserrat"/>
                <a:cs typeface="Montserrat"/>
                <a:sym typeface="Montserrat"/>
              </a:rPr>
              <a:t>Model flood risk under multiple rainfall scenarios (Normal, Heavy Rain, Extreme Rain) for more informed decision-making</a:t>
            </a:r>
          </a:p>
        </p:txBody>
      </p:sp>
      <p:sp>
        <p:nvSpPr>
          <p:cNvPr name="TextBox 82" id="82"/>
          <p:cNvSpPr txBox="true"/>
          <p:nvPr/>
        </p:nvSpPr>
        <p:spPr>
          <a:xfrm rot="0">
            <a:off x="9115055" y="17701619"/>
            <a:ext cx="4801668" cy="298814"/>
          </a:xfrm>
          <a:prstGeom prst="rect">
            <a:avLst/>
          </a:prstGeom>
        </p:spPr>
        <p:txBody>
          <a:bodyPr anchor="t" rtlCol="false" tIns="0" lIns="0" bIns="0" rIns="0">
            <a:spAutoFit/>
          </a:bodyPr>
          <a:lstStyle/>
          <a:p>
            <a:pPr algn="just">
              <a:lnSpc>
                <a:spcPts val="2429"/>
              </a:lnSpc>
            </a:pPr>
            <a:r>
              <a:rPr lang="en-US" sz="1735">
                <a:solidFill>
                  <a:srgbClr val="000000"/>
                </a:solidFill>
                <a:latin typeface="Montserrat"/>
                <a:ea typeface="Montserrat"/>
                <a:cs typeface="Montserrat"/>
                <a:sym typeface="Montserrat"/>
              </a:rPr>
              <a:t>Positioning, not measured market share</a:t>
            </a:r>
          </a:p>
        </p:txBody>
      </p:sp>
      <p:sp>
        <p:nvSpPr>
          <p:cNvPr name="TextBox 83" id="83"/>
          <p:cNvSpPr txBox="true"/>
          <p:nvPr/>
        </p:nvSpPr>
        <p:spPr>
          <a:xfrm rot="0">
            <a:off x="14630387" y="17701619"/>
            <a:ext cx="4801668" cy="298814"/>
          </a:xfrm>
          <a:prstGeom prst="rect">
            <a:avLst/>
          </a:prstGeom>
        </p:spPr>
        <p:txBody>
          <a:bodyPr anchor="t" rtlCol="false" tIns="0" lIns="0" bIns="0" rIns="0">
            <a:spAutoFit/>
          </a:bodyPr>
          <a:lstStyle/>
          <a:p>
            <a:pPr algn="just">
              <a:lnSpc>
                <a:spcPts val="2429"/>
              </a:lnSpc>
            </a:pPr>
            <a:r>
              <a:rPr lang="en-US" sz="1735">
                <a:solidFill>
                  <a:srgbClr val="000000"/>
                </a:solidFill>
                <a:latin typeface="Montserrat"/>
                <a:ea typeface="Montserrat"/>
                <a:cs typeface="Montserrat"/>
                <a:sym typeface="Montserrat"/>
              </a:rPr>
              <a:t>Illustrative, not benchmarked results</a:t>
            </a:r>
          </a:p>
        </p:txBody>
      </p:sp>
      <p:sp>
        <p:nvSpPr>
          <p:cNvPr name="Freeform 84" id="84"/>
          <p:cNvSpPr/>
          <p:nvPr/>
        </p:nvSpPr>
        <p:spPr>
          <a:xfrm flipH="false" flipV="false" rot="0">
            <a:off x="11690194" y="13975687"/>
            <a:ext cx="6595815" cy="1790096"/>
          </a:xfrm>
          <a:custGeom>
            <a:avLst/>
            <a:gdLst/>
            <a:ahLst/>
            <a:cxnLst/>
            <a:rect r="r" b="b" t="t" l="l"/>
            <a:pathLst>
              <a:path h="1790096" w="6595815">
                <a:moveTo>
                  <a:pt x="0" y="0"/>
                </a:moveTo>
                <a:lnTo>
                  <a:pt x="6595815" y="0"/>
                </a:lnTo>
                <a:lnTo>
                  <a:pt x="6595815" y="1790096"/>
                </a:lnTo>
                <a:lnTo>
                  <a:pt x="0" y="1790096"/>
                </a:lnTo>
                <a:lnTo>
                  <a:pt x="0" y="0"/>
                </a:lnTo>
                <a:close/>
              </a:path>
            </a:pathLst>
          </a:custGeom>
          <a:blipFill>
            <a:blip r:embed="rId1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DAHUxEK3vdU</dc:identifier>
  <dcterms:modified xsi:type="dcterms:W3CDTF">2011-08-01T06:04:30Z</dcterms:modified>
  <cp:revision>1</cp:revision>
  <dc:title>GINKGO poster for URBIEE26</dc:title>
</cp:coreProperties>
</file>